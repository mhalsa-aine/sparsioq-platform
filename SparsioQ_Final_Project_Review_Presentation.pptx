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6576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Times New Roman"/>
              </a:defRPr>
            </a:pPr>
            <a:r>
              <a:t>SPARSIOQ: AN ALGORITHMIC QUANTITATIVE WEALTH &amp; PORTFOLIO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Times New Roman"/>
              </a:defRPr>
            </a:pPr>
            <a:r>
              <a:t>COURSE : MATHEMATICS FOR INTELLIGENT SYSTEMS 3</a:t>
            </a:r>
          </a:p>
          <a:p>
            <a:pPr>
              <a:defRPr sz="2000" b="1">
                <a:solidFill>
                  <a:srgbClr val="111111"/>
                </a:solidFill>
                <a:latin typeface="Times New Roman"/>
              </a:defRPr>
            </a:pPr>
            <a:r>
              <a:t>COURSE CODE: 24MAT204</a:t>
            </a:r>
          </a:p>
          <a:p>
            <a:pPr>
              <a:defRPr sz="2000" b="1">
                <a:solidFill>
                  <a:srgbClr val="111111"/>
                </a:solidFill>
                <a:latin typeface="Times New Roman"/>
              </a:defRPr>
            </a:pPr>
            <a:r>
              <a:t>DEPARTMENT: ARTIFICIAL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106984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Times New Roman"/>
              </a:defRPr>
            </a:pPr>
            <a:r>
              <a:t>TEAM 11 :</a:t>
            </a:r>
          </a:p>
          <a:p>
            <a:pPr>
              <a:defRPr sz="1800" b="1">
                <a:solidFill>
                  <a:srgbClr val="222222"/>
                </a:solidFill>
                <a:latin typeface="Times New Roman"/>
              </a:defRPr>
            </a:pPr>
            <a:r>
              <a:t>•  MHALSA PADMAKUMAR (CB.AI.U4AIM25052)</a:t>
            </a:r>
          </a:p>
          <a:p>
            <a:pPr>
              <a:defRPr sz="1800" b="1">
                <a:solidFill>
                  <a:srgbClr val="222222"/>
                </a:solidFill>
                <a:latin typeface="Times New Roman"/>
              </a:defRPr>
            </a:pPr>
            <a:r>
              <a:t>•  SHIZA CKV (CB.AI.U4AIM25037)</a:t>
            </a:r>
          </a:p>
          <a:p>
            <a:pPr>
              <a:defRPr sz="1800" b="1">
                <a:solidFill>
                  <a:srgbClr val="222222"/>
                </a:solidFill>
                <a:latin typeface="Times New Roman"/>
              </a:defRPr>
            </a:pPr>
            <a:r>
              <a:t>•  ANWAIKA SANVI (CB.AI.U4AIM25044)</a:t>
            </a:r>
          </a:p>
          <a:p>
            <a:pPr>
              <a:defRPr sz="1800" b="1">
                <a:solidFill>
                  <a:srgbClr val="222222"/>
                </a:solidFill>
                <a:latin typeface="Times New Roman"/>
              </a:defRPr>
            </a:pPr>
            <a:r>
              <a:t>•  JOSHIKA (CB.AI.U4AIM25014)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The Retail Wealth Barrier: High individual stock prices (like MRF, TCS, and Reliance) prevent small retail savers from building safe, diversified portfolios.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Severe Retail Losses: Studies show that over 90% of retail traders lose money by gambling on risky derivatives and unverified tips.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The Quant Gap: Advanced portfolio optimization and risk detection tools have traditionally been restricted to wealthy hedge funds and institutions.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The SparsioQ Solution: A simple platform that brings institutional math to everyday people, enabling micro-investing starting from just ₹100.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Dual-Mode Experience: Includes Auto-Pilot Mode for beginners with 1-click UPI payments, and Quant Pro Mode for researchers and finance evaluators.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PROBLEM STATEMENTS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Discrete Share Barrier: Traditional stock brokers require buying full shares, leaving unspent cash sitting idle without earning returns.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High Transaction Fee Drag: Traditional portfolio models spread money across 30 to 50 small stocks, where brokerage fees eat away over 40% of profits.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Unpredictable Market Crashes: Standard financial models assume markets are steady, failing to protect investors when sudden crashes occur.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Slow Option Pricing Speed: Traditional computer simulations are too slow for real-time pricing and risk hedging during fast market movements.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Project Goal: To build a clean, real-time web platform that solves these issues using fractional shares, smart portfolio math, and quantum speed.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1. Micro-Investment Engine: Split any investment amount (from ₹100 up to ₹10 Lakhs) into exact fractional shares with zero wasted money.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2. Sparse Portfolio Optimization: Use L1-Regularized Markowitz Optimization to select the top 4 core stocks, cutting transaction fees by over 40%.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3. Market Regime Detection: Use Gaussian Hidden Markov Models to detect whether the market is in a safe Bull cycle or a dangerous Bear cycle.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4. Quantum Option Pricing: Implement Quantum Amplitude Estimation using Qiskit to calculate derivative prices with quadratic speedup.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5. Live Real-Time Platform: Deploy an end-to-end cloud platform streaming real National Stock Exchange (NSE) prices with instant UPI payments.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EXISTING SYSTEM VS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Minimum Investment: Traditional brokers require ₹5,000 to ₹50,000+ vs. SparsioQ works with any amount starting at just ₹100.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Share Buying Units: Existing brokers only allow whole integer shares vs. SparsioQ calculates fractional shares down to 4 decimal places.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Portfolio Simplicity: Traditional models buy 30 to 50 stocks with high fees vs. SparsioQ focuses on 4 core leaders, saving 43.8% in fees.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Market Crash Awareness: Existing robo-advisors assume steady markets vs. SparsioQ automatically adapts to Bull and Bear market cycles.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Option Pricing: Standard tools use slow classical simulations vs. SparsioQ uses quantum circuits for quadratic computing speed.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Ease of Use: Other tools require finance expertise vs. SparsioQ offers 1-Click Auto-Pilot with Google Pay, PhonePe, and Paytm integration.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METHODOLOGY &amp;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523744" cy="466344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224942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F46E5"/>
                </a:solidFill>
                <a:latin typeface="Times New Roman"/>
              </a:defRPr>
            </a:pPr>
            <a:r>
              <a:t>STEP 1: LIVE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74520"/>
            <a:ext cx="22494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Times New Roman"/>
              </a:defRPr>
            </a:pPr>
            <a:r>
              <a:t>Real-Time Data Feed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249424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Live National Stock Exchange (NSE) data streaming via yfinance.</a:t>
            </a:r>
          </a:p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Tracks 25 blue-chip leaders across Banking, IT, Energy, FMCG &amp; Auto.</a:t>
            </a:r>
          </a:p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Checks market open/closed hours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371600"/>
            <a:ext cx="2523744" cy="4663440"/>
          </a:xfrm>
          <a:prstGeom prst="roundRect">
            <a:avLst/>
          </a:prstGeom>
          <a:solidFill>
            <a:srgbClr val="ECFDF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1508760"/>
            <a:ext cx="224942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Times New Roman"/>
              </a:defRPr>
            </a:pPr>
            <a:r>
              <a:t>STEP 2: FRACTIONAL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1874520"/>
            <a:ext cx="22494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Times New Roman"/>
              </a:defRPr>
            </a:pPr>
            <a:r>
              <a:t>Zero-Waste Micro-Investing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468880"/>
            <a:ext cx="2249424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User enters any budget (e.g. ₹100, ₹500, or ₹5,000).</a:t>
            </a:r>
          </a:p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Calculates fractional shares down to 0.0001 precision.</a:t>
            </a:r>
          </a:p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Ensures 100% of money is invested with zero cash drag.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371600"/>
            <a:ext cx="2523744" cy="466344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508760"/>
            <a:ext cx="224942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11D48"/>
                </a:solidFill>
                <a:latin typeface="Times New Roman"/>
              </a:defRPr>
            </a:pPr>
            <a:r>
              <a:t>STEP 3: QUANT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874520"/>
            <a:ext cx="22494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Times New Roman"/>
              </a:defRPr>
            </a:pPr>
            <a:r>
              <a:t>Smart Math &amp; Risk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468880"/>
            <a:ext cx="2249424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L1 Sparse Optimization: Picks top 4 stocks, cutting fees by 43.8%.</a:t>
            </a:r>
          </a:p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Gaussian HMM: Detects Bull vs Bear market cycles.</a:t>
            </a:r>
          </a:p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Qiskit Quantum QAE: Fast option pricing with quadratic speedup.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371600"/>
            <a:ext cx="2523744" cy="4663440"/>
          </a:xfrm>
          <a:prstGeom prst="roundRect">
            <a:avLst/>
          </a:prstGeom>
          <a:solidFill>
            <a:srgbClr val="FEF9C3"/>
          </a:solidFill>
          <a:ln w="254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43416" y="1508760"/>
            <a:ext cx="224942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A8A04"/>
                </a:solidFill>
                <a:latin typeface="Times New Roman"/>
              </a:defRPr>
            </a:pPr>
            <a:r>
              <a:t>STEP 4: 1-CLICK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1874520"/>
            <a:ext cx="22494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Times New Roman"/>
              </a:defRPr>
            </a:pPr>
            <a:r>
              <a:t>UPI &amp; Live Portfolio Ledger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2468880"/>
            <a:ext cx="2249424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1-Click UPI Payment launch (Google Pay / PhonePe / Paytm).</a:t>
            </a:r>
          </a:p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Live Portfolio tracking: Shares, value, and real-time profit/loss.</a:t>
            </a:r>
          </a:p>
          <a:p>
            <a:pPr>
              <a:spcAft>
                <a:spcPts val="1000"/>
              </a:spcAft>
              <a:defRPr sz="1250">
                <a:solidFill>
                  <a:srgbClr val="222222"/>
                </a:solidFill>
                <a:latin typeface="Times New Roman"/>
              </a:defRPr>
            </a:pPr>
            <a:r>
              <a:t>• Instant sell buttons: Cash returns directly to wallet balance.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TOOLS AND TECHNOLOGIES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Core Programming: Python 3.13 with NumPy, Pandas, and SciPy for high-speed mathematical computations.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Portfolio Optimization: CVXOPT library to solve L1-Regularized Sparse Markowitz portfolio weights.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Quantum Computing Engine: Qiskit by IBM Quantum to build and simulate Quantum Amplitude Estimation circuits.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Live Stock Market Data: yfinance API streaming real-time prices directly from the National Stock Exchange (NSE).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Interactive Web Dashboard: Streamlit Community Cloud and Plotly for real-time candlestick charts and mobile UI.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Payments &amp; Banking Security: NPCI UPI Intent protocol (for GPay/PhonePe/Paytm), Razorpay SDK, and RBI Account Aggregator.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IMPLEMENTATION AND WORK COMPLETED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1. Real-Time Market Intelligence: Built live tracking for 25 NSE blue-chip stocks with daily gainers/losers and AI Health Rankings.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2. Zero-Knowledge Auto-Pilot: Created an automated fractional allocation engine with instant UPI payment deep-links.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3. Live Portfolio &amp; Sell Ledger: Built active holdings management with real-time profit/loss tracking and 1-click sell buttons.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4. Quant Pro Laboratory: Implemented the MDP Trade Slicer, Gaussian HMM Regimes, 3D Tensor Tucker Loadings, and Quantum QAE.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5. Investor Safety &amp; Bank Linking: Added mandatory SEBI/RBI risk disclosure acceptance and NPCI mobile OTP verification.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Cloud Deployment: The platform is fully live and publicly accessible on Streamlit Cloud (https://sparsioq-platform.streamlit.app).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RESULTS AND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206654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44168"/>
            <a:ext cx="199339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Times New Roman"/>
              </a:defRPr>
            </a:pPr>
            <a:r>
              <a:t>1. SEBI Risk Gate</a:t>
            </a:r>
          </a:p>
        </p:txBody>
      </p:sp>
      <p:pic>
        <p:nvPicPr>
          <p:cNvPr id="8" name="Picture 7" descr="media_1793034783438_0a2019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81912"/>
            <a:ext cx="1975103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" y="3026664"/>
            <a:ext cx="19933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222222"/>
                </a:solidFill>
                <a:latin typeface="Times New Roman"/>
              </a:defRPr>
            </a:pPr>
            <a:r>
              <a:t>Mandatory investor regulatory disclosure and SEBI risk acceptance modal.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07791" y="1325880"/>
            <a:ext cx="206654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7" y="1344168"/>
            <a:ext cx="199339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Times New Roman"/>
              </a:defRPr>
            </a:pPr>
            <a:r>
              <a:t>2. NPCI Bank Link</a:t>
            </a:r>
          </a:p>
        </p:txBody>
      </p:sp>
      <p:pic>
        <p:nvPicPr>
          <p:cNvPr id="12" name="Picture 11" descr="media_1793034732541_525416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3511" y="1581912"/>
            <a:ext cx="1975103" cy="1417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44367" y="3026664"/>
            <a:ext cx="19933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222222"/>
                </a:solidFill>
                <a:latin typeface="Times New Roman"/>
              </a:defRPr>
            </a:pPr>
            <a:r>
              <a:t>RBI Account Aggregator 2FA mobile OTP linking for verified bank accounts.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4062" y="1325880"/>
            <a:ext cx="206654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38" y="1344168"/>
            <a:ext cx="199339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Times New Roman"/>
              </a:defRPr>
            </a:pPr>
            <a:r>
              <a:t>3. Auto-Pilot Mode</a:t>
            </a:r>
          </a:p>
        </p:txBody>
      </p:sp>
      <p:pic>
        <p:nvPicPr>
          <p:cNvPr id="16" name="Picture 15" descr="media_1793034245827_86ea69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9782" y="1581912"/>
            <a:ext cx="1975103" cy="1417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20638" y="3026664"/>
            <a:ext cx="19933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222222"/>
                </a:solidFill>
                <a:latin typeface="Times New Roman"/>
              </a:defRPr>
            </a:pPr>
            <a:r>
              <a:t>Exact ₹5,000 order split down to 0.0001 fractional shares with 1-click execution.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0333" y="1325880"/>
            <a:ext cx="206654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09" y="1344168"/>
            <a:ext cx="199339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Times New Roman"/>
              </a:defRPr>
            </a:pPr>
            <a:r>
              <a:t>4. Razorpay Gateway</a:t>
            </a:r>
          </a:p>
        </p:txBody>
      </p:sp>
      <p:pic>
        <p:nvPicPr>
          <p:cNvPr id="20" name="Picture 19" descr="media_1793034759706_429bbc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6053" y="1581912"/>
            <a:ext cx="1975103" cy="1417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96909" y="3026664"/>
            <a:ext cx="19933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222222"/>
                </a:solidFill>
                <a:latin typeface="Times New Roman"/>
              </a:defRPr>
            </a:pPr>
            <a:r>
              <a:t>Production payment gateway credentials setup with Razorpay Python SDK.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36604" y="1325880"/>
            <a:ext cx="206654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0" y="1344168"/>
            <a:ext cx="199339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Times New Roman"/>
              </a:defRPr>
            </a:pPr>
            <a:r>
              <a:t>5. Live Market Watch</a:t>
            </a:r>
          </a:p>
        </p:txBody>
      </p:sp>
      <p:pic>
        <p:nvPicPr>
          <p:cNvPr id="24" name="Picture 23" descr="media_1793034319465_bc0a7a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2324" y="1581912"/>
            <a:ext cx="1975103" cy="1417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473180" y="3026664"/>
            <a:ext cx="19933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222222"/>
                </a:solidFill>
                <a:latin typeface="Times New Roman"/>
              </a:defRPr>
            </a:pPr>
            <a:r>
              <a:t>25 NSE blue-chips ranked #1 to #25 with live candlestick &amp; 20-Day SMA chart.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794760"/>
            <a:ext cx="206654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813048"/>
            <a:ext cx="199339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Times New Roman"/>
              </a:defRPr>
            </a:pPr>
            <a:r>
              <a:t>6. Portfolio Ledger</a:t>
            </a:r>
          </a:p>
        </p:txBody>
      </p:sp>
      <p:pic>
        <p:nvPicPr>
          <p:cNvPr id="28" name="Picture 27" descr="media_1793034377089_c3f71a6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050792"/>
            <a:ext cx="1975103" cy="1417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8096" y="5495544"/>
            <a:ext cx="19933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222222"/>
                </a:solidFill>
                <a:latin typeface="Times New Roman"/>
              </a:defRPr>
            </a:pPr>
            <a:r>
              <a:t>Active holdings, real-time P&amp;L, 50%/100% liquidation sell buttons &amp; ledger.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07791" y="3794760"/>
            <a:ext cx="206654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44367" y="3813048"/>
            <a:ext cx="199339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Times New Roman"/>
              </a:defRPr>
            </a:pPr>
            <a:r>
              <a:t>7. MDP RL Trade Slicer</a:t>
            </a:r>
          </a:p>
        </p:txBody>
      </p:sp>
      <p:pic>
        <p:nvPicPr>
          <p:cNvPr id="32" name="Picture 31" descr="media_1793034472848_056f5e3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3511" y="4050792"/>
            <a:ext cx="1975103" cy="1417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44367" y="5495544"/>
            <a:ext cx="19933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222222"/>
                </a:solidFill>
                <a:latin typeface="Times New Roman"/>
              </a:defRPr>
            </a:pPr>
            <a:r>
              <a:t>Q-Learning TWAP/VWAP order slicer reducing market slippage to 3.1 bps.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4062" y="3794760"/>
            <a:ext cx="206654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38" y="3813048"/>
            <a:ext cx="199339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Times New Roman"/>
              </a:defRPr>
            </a:pPr>
            <a:r>
              <a:t>8. HMM &amp; 3D Tensor</a:t>
            </a:r>
          </a:p>
        </p:txBody>
      </p:sp>
      <p:pic>
        <p:nvPicPr>
          <p:cNvPr id="36" name="Picture 35" descr="media_1793034518199_b158386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29782" y="4050792"/>
            <a:ext cx="1975103" cy="1417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120638" y="5495544"/>
            <a:ext cx="19933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222222"/>
                </a:solidFill>
                <a:latin typeface="Times New Roman"/>
              </a:defRPr>
            </a:pPr>
            <a:r>
              <a:t>3-state Gaussian regime shifts &amp; Tucker HoSVD multilinear factor loadings.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0333" y="3794760"/>
            <a:ext cx="206654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6909" y="3813048"/>
            <a:ext cx="199339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Times New Roman"/>
              </a:defRPr>
            </a:pPr>
            <a:r>
              <a:t>9. Sparse CVXOPT</a:t>
            </a:r>
          </a:p>
        </p:txBody>
      </p:sp>
      <p:pic>
        <p:nvPicPr>
          <p:cNvPr id="40" name="Picture 39" descr="media_1793034639085_7919c39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06053" y="4050792"/>
            <a:ext cx="1975103" cy="1417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296909" y="5495544"/>
            <a:ext cx="19933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222222"/>
                </a:solidFill>
                <a:latin typeface="Times New Roman"/>
              </a:defRPr>
            </a:pPr>
            <a:r>
              <a:t>L1-regularized frontier cutting transaction fees by 43.8% at KKT point.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36604" y="3794760"/>
            <a:ext cx="206654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73180" y="3813048"/>
            <a:ext cx="199339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11111"/>
                </a:solidFill>
                <a:latin typeface="Times New Roman"/>
              </a:defRPr>
            </a:pPr>
            <a:r>
              <a:t>10. Quantum Option</a:t>
            </a:r>
          </a:p>
        </p:txBody>
      </p:sp>
      <p:pic>
        <p:nvPicPr>
          <p:cNvPr id="44" name="Picture 43" descr="media_1793034672713_f413a09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82324" y="4050792"/>
            <a:ext cx="1975103" cy="14173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473180" y="5495544"/>
            <a:ext cx="19933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222222"/>
                </a:solidFill>
                <a:latin typeface="Times New Roman"/>
              </a:defRPr>
            </a:pPr>
            <a:r>
              <a:t>Qiskit QAE circuit option pricing achieving quadratic speedup O(1/ε).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CHALLENGES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Live Market Throttling: Yahoo Finance blocked rapid requests; solved using 60-second caching with verified fallback data.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Session Balance Bounds: App crashed when balance reached ₹0; fixed by safely bounding minimum values and input limits.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Windows Character Encoding: Fixed rupee symbols (₹) and emojis by enforcing strict UTF-8 standards across the codebase.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Future Work – Direct Broker Execution: Connect with Zerodha Kite Connect and Angel One APIs for automated stock execution.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Future Work – Real Quantum Hardware: Run quantum option pricing circuits on real 156-qubit IBM Quantum Heron hardware.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Future Work – Multi-Asset Expansion: Expand portfolio optimization to include Sovereign Gold Bonds (SGB) and Real Estate REITs.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Mathematical Foundation: Successfully applied optimization, probability, and quantum concepts to solve real-world wealth problems.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Proven Fee Savings: Confirmed that focusing on 4 core stocks cuts transaction fees by 43.8% while maintaining strong returns.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Working Production Software: Built a clean, fully functional cloud platform running on live National Stock Exchange market feeds.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Empowering Retail Savers: Enabled everyday beginners to invest small amounts starting at ₹100 into safe, diversified blue-chip leaders.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Regulatory Compliance: Incorporated SEBI risk disclosures and RBI Account Aggregator protocols to ensure investor safety.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rita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00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Times New Roman"/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26364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46464"/>
                </a:solidFill>
                <a:latin typeface="Times New Roman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1. Markowitz, H. (1952): 'Portfolio Selection.' The Journal of Finance, 7(1), 77–91. (Foundational Portfolio Theory).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2. Tibshirani, R. (1996): 'Regression shrinkage and selection via the Lasso.' Journal of the Royal Statistical Society. (L1 Regularization).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3. Boyd, S., &amp; Vandenberghe, L. (2004): Convex Optimization. Cambridge University Press. (CVXOPT Solvers).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4. Rabiner, L. R. (1989): 'A tutorial on Hidden Markov Models.' Proceedings of the IEEE, 77(2), 257–286. (Market Regimes).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5. Tucker, L. R. (1966): 'Some mathematical notes on three-mode factor analysis.' Psychometrika. (Multilinear Tensors).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6. Brassard, G., et al. (2002): 'Quantum Amplitude Amplification and Estimation.' Contemporary Mathematics. (Quantum Speedup).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7. Black, F., &amp; Scholes, M. (1973): 'The Pricing of Options and Corporate Liabilities.' Journal of Political Economy.</a:t>
            </a:r>
          </a:p>
          <a:p>
            <a:pPr>
              <a:spcAft>
                <a:spcPts val="1400"/>
              </a:spcAft>
              <a:defRPr sz="1500">
                <a:solidFill>
                  <a:srgbClr val="222222"/>
                </a:solidFill>
                <a:latin typeface="Times New Roman"/>
              </a:defRPr>
            </a:pPr>
            <a:r>
              <a:t>•  8. SEBI (2024): 'Study on Profit and Loss of Individual Traders in Equity Market.' Securities and Exchange Board of India.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