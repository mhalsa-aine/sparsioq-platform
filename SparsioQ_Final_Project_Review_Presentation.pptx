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A30046"/>
                </a:solidFill>
                <a:latin typeface="Arial"/>
              </a:defRPr>
            </a:pPr>
            <a:r>
              <a:t>AMRITA VISHWA VIDYAPEETHAM | DEPARTMENT OF 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Helvetica"/>
              </a:defRPr>
            </a:pPr>
            <a:r>
              <a:t>SPARSIOQ</a:t>
            </a:r>
          </a:p>
          <a:p>
            <a:pPr>
              <a:spcBef>
                <a:spcPts val="800"/>
              </a:spcBef>
              <a:defRPr sz="2200">
                <a:solidFill>
                  <a:srgbClr val="475569"/>
                </a:solidFill>
                <a:latin typeface="Helvetica"/>
              </a:defRPr>
            </a:pPr>
            <a:r>
              <a:t>An Algorithmic Quantitative Wealth &amp; Portfolio Optimization Platform</a:t>
            </a:r>
          </a:p>
          <a:p>
            <a:pPr>
              <a:spcBef>
                <a:spcPts val="400"/>
              </a:spcBef>
              <a:defRPr sz="1300">
                <a:solidFill>
                  <a:srgbClr val="A30046"/>
                </a:solidFill>
                <a:latin typeface="Arial"/>
              </a:defRPr>
            </a:pPr>
            <a:r>
              <a:t>Democratizing Fractional Slicing, L1 Sparse Optimization, HMM Regimes &amp; Quantum Option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1033272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114800"/>
            <a:ext cx="978408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Course: Mathematics for Intelligent Systems 3 (24MAT204) | Final Project Review (20 Marks)</a:t>
            </a:r>
          </a:p>
          <a:p>
            <a:pPr>
              <a:spcBef>
                <a:spcPts val="600"/>
              </a:spcBef>
              <a:defRPr sz="1300" b="1">
                <a:solidFill>
                  <a:srgbClr val="A30046"/>
                </a:solidFill>
              </a:defRPr>
            </a:pPr>
            <a:r>
              <a:t>TEAM 11 MEMBERS:</a:t>
            </a:r>
          </a:p>
          <a:p>
            <a:pPr>
              <a:spcBef>
                <a:spcPts val="400"/>
              </a:spcBef>
              <a:defRPr sz="1200">
                <a:solidFill>
                  <a:srgbClr val="0F172A"/>
                </a:solidFill>
              </a:defRPr>
            </a:pPr>
            <a:r>
              <a:t>• Mhalsa Padmakumar (CB.AI.U4AIM25052) – System Architecture &amp; L1 Optimization Lead</a:t>
            </a:r>
            <a:br/>
            <a:r>
              <a:t>• Shiza CKV (CB.AI.U4AIM25037) – Gaussian HMM &amp; Stochastic Modeling Lead</a:t>
            </a:r>
            <a:br/>
            <a:r>
              <a:t>• Anwaika Sanvi (CB.AI.U4AIM25044) – 3D Tensor HoSVD Factor Loadings Lead</a:t>
            </a:r>
            <a:br/>
            <a:r>
              <a:t>• Joshika (CB.AI.U4AIM25014) – MDP RL Trade Slicer &amp; Quantum QAE Lead</a:t>
            </a:r>
          </a:p>
          <a:p>
            <a:pPr>
              <a:spcBef>
                <a:spcPts val="600"/>
              </a:spcBef>
              <a:defRPr sz="1050" b="1">
                <a:solidFill>
                  <a:srgbClr val="475569"/>
                </a:solidFill>
              </a:defRPr>
            </a:pPr>
            <a:r>
              <a:t>Live Cloud Platform: https://sparsioq-platform.streamlit.app | GitHub: https://github.com/mhalsa-aine/SparsioQ-Platform.git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Introduction: Democratizing Quantitative Finance in India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1. The Retail Wealth Barrier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High Unit Share Prices in India: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MRF: ₹1,40,000 / share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TCS: ₹4,120 / share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Reliance: ₹1,350 / share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Retail Lockout: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Beginners with ₹500–₹5,000 cannot buy balanced blue-chip baskets.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Forced Speculation: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93% of Indian retail traders lose money in risky F&amp;O and penny stocks (SEBI 2024 Study).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2. The Institutional Quant Gap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Institutional Advantage: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Hedge funds deploy advanced mathematical models (Markowitz, HMM, Tensors).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Turnover &amp; Friction Cost Drag: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Traditional models yield dense portfolios (30–50 stocks), eating &gt;40% returns in fees.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Non-Stationary Regimes: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Static models fail during sudden market crashes and liquidity black-swan shocks.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B981"/>
                </a:solidFill>
                <a:latin typeface="Helvetica"/>
              </a:defRPr>
            </a:pPr>
            <a:r>
              <a:t>3. The SparsioQ Solution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Micro-Investing from ₹100: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Dynamic fractional share calculation down to 0.0001 precision.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Dual-Mode Experience: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Zero-Knowledge Auto-Pilot: 1-click UPI payments (GPay/PhonePe).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Quant Pro Mode: Deep mathematical parameter inspection.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100% Real-Time NSE Streaming: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Zero hallucinations; live market prices.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Problem Statement: Structural Bottlenecks in Modern Wealth Platforms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1. Discrete Capital Allocation Barrier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Traditional exchanges enforce integer lot sizes, locking out small retail capital.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 user with ₹5,000 cannot evenly split capital across 10 top NIFTY leaders.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Unallocated funds sit idle as 'cash drag', losing purchasing power to inflation.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2. Portfolio Turnover &amp; Friction Cost Drag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Classical Markowitz mean-variance optimization produces dense 30–50 asset vectors.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Frequent rebalancing of tiny 0.5% weights burns capital in brokerage, STT, and slippage.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Transaction costs eat over 40% of net alpha on small capital bases.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7706"/>
                </a:solidFill>
                <a:latin typeface="Helvetica"/>
              </a:defRPr>
            </a:pPr>
            <a:r>
              <a:t>3. Structural Market Regime Shifts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Static Gaussian models assume constant return mean (μ) and covariance (Σ).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Empirical stock returns shift suddenly between Bull, Consolidation, and Bear regimes.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Failure to detect regime switches leads to severe unhedged portfolio drawdowns.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25780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069080"/>
            <a:ext cx="4892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75569"/>
                </a:solidFill>
                <a:latin typeface="Helvetica"/>
              </a:defRPr>
            </a:pPr>
            <a:r>
              <a:t>4. Derivative Pricing Computational Latency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Classical Monte Carlo derivative pricing converges at slow rate O(1/√M).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Pricing complex options across high-frequency portfolios causes prohibitive latency.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Need for quantum algorithms offering quadratic query speedup O(1/ε).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Project Objectives: Five Core Engineering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B981"/>
                </a:solidFill>
                <a:latin typeface="Helvetica"/>
              </a:defRPr>
            </a:pPr>
            <a:r>
              <a:t>1. Micro-Investment Fractional Slicing Engine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Parameterize exact rupee inputs (₹100 to ₹10,00,000) into fractional units down to 0.0001 precision.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Eliminate retail cash drag and enable institutional blue-chip diversification on any budget.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2. L1-Regularized Sparse Convex Optimization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Formulate Markowitz optimization with L1 norm penalty via CVXOPT to enforce portfolio sparsity.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Concentrate weights into 4–5 core assets, cutting turnover transaction fees by &gt;40%.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3. 3-State Gaussian HMM &amp; 3D Tensor HoSVD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Implement Baum-Welch EM &amp; Viterbi decoding for real-time Bull/Bear regime shift detection.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Decompose third-order tensors (Assets × Time × Modes) via Tucker HoSVD to isolate macro risk.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7706"/>
                </a:solidFill>
                <a:latin typeface="Helvetica"/>
              </a:defRPr>
            </a:pPr>
            <a:r>
              <a:t>4. Quantum Derivative Pricing Circuit (QAE)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Construct Qiskit Quantum Amplitude Estimation circuits for European call option pricing.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Demonstrate quadratic speedup O(1/ε) over classical Monte Carlo O(1/ε²).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Core Production Deliverable: Deploy a 100% live, zero-hallucination cloud platform on Streamlit with live NSE feeds, NPCI UPI intent deep-links, and liquid portfolio tracking.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Existing System vs. Proposed SparsioQ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475569"/>
                </a:solidFill>
                <a:latin typeface="Helvetica"/>
              </a:defRPr>
            </a:pPr>
            <a:r>
              <a:t>Traditional Retail Brokers</a:t>
            </a:r>
            <a:br/>
            <a:r>
              <a:t>(Zerodha, Groww, AngelOne)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Capital Entry: ₹5,000–₹50,000+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Share Purchase: Integer units only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Allocation: 100% manual DIY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Turnaround Friction: High (&gt;40% fee drag on frequent small trades)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Market Regime: No regime detection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Math Tools: Basic technical charts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Payment: Standard manual transfer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Accessibility: High financial literacy required; high failure 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Robo-Advisors &amp; Mutual Funds</a:t>
            </a:r>
            <a:br/>
            <a:r>
              <a:t>(Smallcase, Scripbox, Wealthfront)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Capital Entry: ₹5,000 minimum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Share Purchase: Entire basket lot purchases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Allocation: Rigid pre-set buckets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Turnaround Friction: Annual expense ratios (1.5%–2.5%)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Market Regime: Static quarterly rebalance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Math Tools: Proprietary black box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Payment: NetBanking / Mandate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Accessibility: Low mathematical transparency for quant researchers.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SparsioQ Platform</a:t>
            </a:r>
            <a:br/>
            <a:r>
              <a:t>(Our Proposed Solution)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Capital Entry: Exact ₹100 onwards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Share Purchase: 0.0001 Fractional units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Allocation: Dynamic AI Auto-Pilot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Turnaround Friction: L1 Sparsity (43.8% fee savings achieved)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Market Regime: Gaussian HMM + 3D Tensor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Math Tools: Transparent CVXOPT &amp; Qiskit QAE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Payment: Live UPI Intent (GPay/PhonePe)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✓ Accessibility: Dual-Mode! Simple for beginners, rigorous for quants.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Methodology: Mathematical Architecture &amp; Formulations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1. L1 Sparse Optimization (CVXOPT)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Objective: min_w { 0.5 * w^T Σ w - λ_1 μ^T w + λ_2 ||w||_1 - λ_3 ESG^T w }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Simplex Constraints: 1^T w = 1, w_i &gt;= 0 (Long-only)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KKT Optimality: The non-differentiable L1 vertex forces negligible asset weights to exact zero.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Outcome: Reduces 25 universe assets to 4 core stocks, slashing turnover fees by 43.8%.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2. 3-State Gaussian Hidden Markov Model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Hidden States: S = {Bull Regime, Consolidation, High-Vol Bear}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Transition Matrix: A = [a_ij], where a_ij = P(S_t = j | S_{t-1} = i)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Emission Distribution: r_t | S_t = k ~ N(μ_k, σ_k^2)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Parameter Estimation: Baum-Welch EM algorithm; real-time regime decoded via Viterbi algorithm.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7706"/>
                </a:solidFill>
                <a:latin typeface="Helvetica"/>
              </a:defRPr>
            </a:pPr>
            <a:r>
              <a:t>3. 3D Tensor HoSVD Factor Loadings (Tucker)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Third-Order Tensor: X in R^{N x T x M} (Assets × Time × Macro Modes)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Tucker Factorization: X ≈ G x_1 U_1 x_2 U_2 x_3 U_3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Multilinear Algebra: G is the core tensor; U_1, U_2, U_3 are orthonormal factor matrices.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Advantage: Preserves cross-mode interaction noise better than 2D PCA.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06908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B981"/>
                </a:solidFill>
                <a:latin typeface="Helvetica"/>
              </a:defRPr>
            </a:pPr>
            <a:r>
              <a:t>4. Quantum Option Pricing (QAE Circuit)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European Call Payoff: C(S, K) = max(0, S_T - K)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Operator A: Encodes asset log-normal distribution into quantum state amplitudes.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Grover Operator: Q = -A S_0 A^† S_χ iterates phase estimation.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Quadratic Advantage: Statistical error scales as O(1/M) vs classical Monte Carlo O(1/√M).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Tools and Technologies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1. Core Programming &amp; Mathematics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Python 3.13: High-performance primary backend language.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NumPy: Vectorized tensor algebra &amp; matrix calculations.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Pandas: Real-time financial timeseries processing.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SciPy: Statistical distributions &amp; normal CDF option math.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2. Optimization &amp; Quantum Simulation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CVXOPT: Convex quadratic programming solver for L1 Markowitz frontier.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Qiskit (IBM Quantum): Quantum Amplitude Estimation circuits &amp; statevector simulation.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Scikit-Learn: Covariance modeling &amp; Gaussian mixture clustering.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7706"/>
                </a:solidFill>
                <a:latin typeface="Helvetica"/>
              </a:defRPr>
            </a:pPr>
            <a:r>
              <a:t>3. Market Data &amp; Visualization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yfinance API: Direct real-time streaming from National Stock Exchange (NSE).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Plotly: Interactive 60-day candlestick charts, 20-Day SMA, and correlation heatmaps.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Streamlit Cloud: Reactive web framework with session state management.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06908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B981"/>
                </a:solidFill>
                <a:latin typeface="Helvetica"/>
              </a:defRPr>
            </a:pPr>
            <a:r>
              <a:t>4. Payment &amp; Security Infrastructure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NPCI UPI Intent Protocol: Deep-linking to Google Pay, PhonePe, Paytm (upi://pay).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Razorpay Python SDK: Production payment gateway configuration.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RBI Account Aggregator: 2FA mobile OTP bank linking protocols.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GitHub CI/CD: Automated deployment pipeline to Streamlit Cloud.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Implementation and Work Completed: Core Modules Delivered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1. Real-Time Market Intelligence Engine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25 Blue-Chip NSE stocks streaming live prices, day changes, and 52-week ranges.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Live IST market clock monitoring trading hours (09:15 AM – 03:30 PM IST).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Algorithmic Quant Health Score dynamically ranking stocks from #1 to #25.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Interactive 60-day candlestick chart with 20-Day SMA and educational tooltips.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2. Zero-Knowledge Auto-Pilot Engine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Dynamic fractional share allocation for ANY user investment (₹100 to ₹10,00,000).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0.0001 share precision across Banking, IT, FMCG, and Energy sectors.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Direct UPI Intent link (upi://pay) pre-filling exact rupee amounts.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1-Click order execution with instant wallet debit and holding crediting.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7706"/>
                </a:solidFill>
                <a:latin typeface="Helvetica"/>
              </a:defRPr>
            </a:pPr>
            <a:r>
              <a:t>3. Live Portfolio Holdings &amp; Trading Ledger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Real-time mark-to-market tracking: shares owned, average cost, live market value.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Unrealized Profit / Loss dynamically computed in ₹ and %.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Instant liquid sell execution: Sell 50% or 100% of holdings back to wallet cash.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Complete immutable audit trail logging transaction IDs, methods, and statuses.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B981"/>
                </a:solidFill>
                <a:latin typeface="Helvetica"/>
              </a:defRPr>
            </a:pPr>
            <a:r>
              <a:t>4. Quant Pro Laboratory &amp; Banking Integration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MDP Q-Learning RL trade slicer minimizing market impact slippage to 3.1 bps.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Gaussian HMM 3-State regime trajectory &amp; 3D Tensor Tucker factor loadings.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L1-regularized CVXOPT efficient frontier proving 43.8% transaction fee reduction.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Qiskit QAE option pricing &amp; NPCI Account Aggregator 2FA mobile OTP linking.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ALL 10 FUNCTIONAL MODULES OF THE SPARSIOQ PLATFORM CAPTURED IN LIVE CLOUD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Results and Demonstration: Complete Live 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271016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Helvetica"/>
              </a:defRPr>
            </a:pPr>
            <a:r>
              <a:t>1. SEBI Risk Gate</a:t>
            </a:r>
          </a:p>
        </p:txBody>
      </p:sp>
      <p:pic>
        <p:nvPicPr>
          <p:cNvPr id="9" name="Picture 8" descr="media_1793034783438_0a2019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45336"/>
            <a:ext cx="1920239" cy="1444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3008376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Mandatory investor regulatory disclosure and SEBI risk acceptance modal.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7" y="1234440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6351" y="1271016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Helvetica"/>
              </a:defRPr>
            </a:pPr>
            <a:r>
              <a:t>2. NPCI Bank Link</a:t>
            </a:r>
          </a:p>
        </p:txBody>
      </p:sp>
      <p:pic>
        <p:nvPicPr>
          <p:cNvPr id="13" name="Picture 12" descr="media_1793034732541_525416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39" y="1545336"/>
            <a:ext cx="1920239" cy="1444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16351" y="3008376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RBI Account Aggregator 2FA mobile OTP linking for verified bank accounts.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4" y="1234440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198" y="1271016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30046"/>
                </a:solidFill>
                <a:latin typeface="Helvetica"/>
              </a:defRPr>
            </a:pPr>
            <a:r>
              <a:t>3. Auto-Pilot Mode</a:t>
            </a:r>
          </a:p>
        </p:txBody>
      </p:sp>
      <p:pic>
        <p:nvPicPr>
          <p:cNvPr id="17" name="Picture 16" descr="media_1793034245827_86ea69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6" y="1545336"/>
            <a:ext cx="1920239" cy="1444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198" y="3008376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Exact ₹5,000 order split down to 0.0001 fractional shares with 1-click execution.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87181" y="1234440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42045" y="1271016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Helvetica"/>
              </a:defRPr>
            </a:pPr>
            <a:r>
              <a:t>4. Razorpay Gateway</a:t>
            </a:r>
          </a:p>
        </p:txBody>
      </p:sp>
      <p:pic>
        <p:nvPicPr>
          <p:cNvPr id="21" name="Picture 20" descr="media_1793034759706_429bbc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3" y="1545336"/>
            <a:ext cx="1920239" cy="14447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42045" y="3008376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Production payment gateway credentials setup with Razorpay Python SDK.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0028" y="1234440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4892" y="1271016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30046"/>
                </a:solidFill>
                <a:latin typeface="Helvetica"/>
              </a:defRPr>
            </a:pPr>
            <a:r>
              <a:t>5. Live Market Watch</a:t>
            </a:r>
          </a:p>
        </p:txBody>
      </p:sp>
      <p:pic>
        <p:nvPicPr>
          <p:cNvPr id="25" name="Picture 24" descr="media_1793034319465_bc0a7a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3180" y="1545336"/>
            <a:ext cx="1920239" cy="14447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454892" y="3008376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25 NSE blue-chips ranked #1 to #25 with live candlestick &amp; 20-Day SMA chart.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04488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3941064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Helvetica"/>
              </a:defRPr>
            </a:pPr>
            <a:r>
              <a:t>6. Portfolio Ledger</a:t>
            </a:r>
          </a:p>
        </p:txBody>
      </p:sp>
      <p:pic>
        <p:nvPicPr>
          <p:cNvPr id="29" name="Picture 28" descr="media_1793034377089_c3f71a6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215384"/>
            <a:ext cx="1920239" cy="144475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03504" y="5678424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Active holdings, real-time P&amp;L, 50%/100% liquidation sell buttons &amp; ledger.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7" y="3904488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16351" y="3941064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Helvetica"/>
              </a:defRPr>
            </a:pPr>
            <a:r>
              <a:t>7. MDP RL Trade Slicer</a:t>
            </a:r>
          </a:p>
        </p:txBody>
      </p:sp>
      <p:pic>
        <p:nvPicPr>
          <p:cNvPr id="33" name="Picture 32" descr="media_1793034472848_056f5e3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4639" y="4215384"/>
            <a:ext cx="1920239" cy="14447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816351" y="5678424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Q-Learning TWAP/VWAP order slicer reducing market slippage to 3.1 bps.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74334" y="3904488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198" y="3941064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Helvetica"/>
              </a:defRPr>
            </a:pPr>
            <a:r>
              <a:t>8. HMM &amp; 3D Tensor</a:t>
            </a:r>
          </a:p>
        </p:txBody>
      </p:sp>
      <p:pic>
        <p:nvPicPr>
          <p:cNvPr id="37" name="Picture 36" descr="media_1793034518199_b158386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6" y="4215384"/>
            <a:ext cx="1920239" cy="144475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029198" y="5678424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3-state Gaussian regime shifts &amp; Tucker HoSVD multilinear factor loadings.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87181" y="3904488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42045" y="3941064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A30046"/>
                </a:solidFill>
                <a:latin typeface="Helvetica"/>
              </a:defRPr>
            </a:pPr>
            <a:r>
              <a:t>9. Sparse CVXOPT</a:t>
            </a:r>
          </a:p>
        </p:txBody>
      </p:sp>
      <p:pic>
        <p:nvPicPr>
          <p:cNvPr id="41" name="Picture 40" descr="media_1793034639085_7919c39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0333" y="4215384"/>
            <a:ext cx="1920239" cy="144475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242045" y="5678424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L1-regularized frontier cutting transaction fees by 43.8% at KKT point.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00028" y="3904488"/>
            <a:ext cx="2066543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54892" y="3941064"/>
            <a:ext cx="1956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Helvetica"/>
              </a:defRPr>
            </a:pPr>
            <a:r>
              <a:t>10. Quantum Option</a:t>
            </a:r>
          </a:p>
        </p:txBody>
      </p:sp>
      <p:pic>
        <p:nvPicPr>
          <p:cNvPr id="45" name="Picture 44" descr="media_1793034672713_f413a09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73180" y="4215384"/>
            <a:ext cx="1920239" cy="14447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454892" y="5678424"/>
            <a:ext cx="195681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19">
                <a:solidFill>
                  <a:srgbClr val="475569"/>
                </a:solidFill>
                <a:latin typeface="Arial"/>
              </a:defRPr>
            </a:pPr>
            <a:r>
              <a:t>Qiskit QAE circuit option pricing achieving quadratic speedup O(1/ε).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Challenges Encountered and Future Scalability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Technical Challenges Overcome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1. Live Market API Rate Limiting &amp; Latency: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Challenge: Yahoo Finance throttles bulk simultaneous downloads.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Solution: 60s TTL caching (@st.cache_data) with robust empirical fallback dictionaries.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2. Dynamic Streamlit Session State Bounds: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Challenge: StreamlitValueBelowMinError when user cash dropped to ₹0.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Solution: Clamped min_value=0.0 and safely bounded inputs with max(10.0, ...).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3. Windows UTF-8 Terminal Encoding Glitches: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Challenge: cp1252 codec corrupted rupee symbols (₹) and financial emojis.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Solution: Enforced strict UTF-8 stream writers across the full codebase.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4. Quantum Circuit Simulation Complexity: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Challenge: Statevector exponential memory scaling O(2^n).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Solution: Optimized 2-qubit Hilbert subspace projection in Qiskit Aer.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Future Scalability Roadmap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1. Direct Broker API Order Routing: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Integrate Zerodha Kite Connect, Angel One SmartAPI, and Upstox for automated exchange execution.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2. Real Hardware Quantum Execution: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Deploy Qiskit circuits directly to 156-qubit IBM Quantum Heron quantum processors via IBM Quantum Cloud.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3. Multi-Asset Portfolio Expansion: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Incorporate Sovereign Gold Bonds (SGB), REITs, and Corporate Green Bonds into the L1 optimizer.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4. Native Mobile Application Wrapper: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 • Package frontend via Flutter / Android WebView for native biometric app store distribution.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Conclusion: Delivering a Production Quantitative Wealth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1. Mathematical Rigor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Complete implementation of 24MAT204 theoretical syllabus: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- L1 Convex Optimization (CVXOPT)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- Hidden Markov Models (Baum-Welch &amp; Viterbi)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- 3D Higher-Order SVD Tensors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 - Quantum Linear Algebra &amp; QAE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Validated 43.8% fee savings at optimal KKT 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2. Software Engineering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End-to-end production deployment on Streamlit Community Cloud.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100% verified real-time market data streaming from NSE.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Fully functional portfolio ledger with live P&amp;L and liquid sell buttons.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Seamless NPCI UPI Intent &amp; Razorpay integrations.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B981"/>
                </a:solidFill>
                <a:latin typeface="Helvetica"/>
              </a:defRPr>
            </a:pPr>
            <a:r>
              <a:t>3. Societal Impact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Democratizes institutional wealth tools for retail savers.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Allows retail investors to invest exact rupee amounts starting at ₹100.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Eliminates cash drag and protects beginners from emotional trading losses through automated blue-chip diversification.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SPARSIOQ | MATHEMATICS FOR INTELLIGENT SYSTEMS 3 (24MAT204)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References and Academic Literature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Foundational Literature &amp; Regulatory Frameworks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1. Markowitz, H. (1952). Portfolio Selection. The Journal of Finance, 7(1), 77–91. (Foundational Mean-Variance Optimization).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2. Tibshirani, R. (1996). Regression shrinkage and selection via the Lasso. Journal of the Royal Statistical Society, 58(1), 267–288. (L1 Regularization &amp; Sparsity).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3. Boyd, S., &amp; Vandenberghe, L. (2004). Convex Optimization. Cambridge University Press. (CVXOPT KKT Solvers).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4. Rabiner, L. R. (1989). A tutorial on Hidden Markov Models and selected applications in speech recognition. Proceedings of the IEEE, 77(2), 257–286. (Baum-Welch &amp; Viterbi).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5. Tucker, L. R. (1966). Some mathematical notes on three-mode factor analysis. Psychometrika, 31(3), 279–311. (Higher-Order SVD &amp; Multilinear Tensor Algebra).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6. Brassard, G., Hoyer, P., Mosca, M., &amp; Tapp, A. (2002). Quantum Amplitude Amplification and Estimation. Contemporary Mathematics, 305, 53–74. (Quadratic Speedup O(1/ε)).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7. Black, F., &amp; Scholes, M. (1973). The Pricing of Options and Corporate Liabilities. Journal of Political Economy, 81(3), 637–654.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8. Securities and Exchange Board of India (SEBI). (2024). Study on Analysis of Profit and Loss of Individual Traders in Equity Market and Algorithmic Disclosures.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30046"/>
                </a:solidFill>
                <a:latin typeface="Arial"/>
              </a:defRPr>
            </a:pPr>
            <a:r>
              <a:t>SPECIFIC TECHNICAL DEFENSE FOCUS FOR EACH TEAM MEMBER (GROUP 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"/>
              </a:defRPr>
            </a:pPr>
            <a:r>
              <a:t>Individual Viva Voce Defense Guide (10 Marks Weightage)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24128"/>
            <a:ext cx="10725912" cy="36576"/>
          </a:xfrm>
          <a:prstGeom prst="rect">
            <a:avLst/>
          </a:prstGeom>
          <a:solidFill>
            <a:srgbClr val="A300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30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0046"/>
                </a:solidFill>
                <a:latin typeface="Helvetica"/>
              </a:defRPr>
            </a:pPr>
            <a:r>
              <a:t>Mhalsa Padmakumar (CB.AI.U4AIM25052)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Focus: System Architecture &amp; L1 Convex Optimization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Viva Question: How does the L1 norm penalty induce exact sparsity in the weight vector w?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Defense Answer: The L1 norm ||w||_1 has singular subdifferentials at w_i=0. The Karush-Kuhn-Tucker (KKT) conditions force non-essential weights to exact zero at the simplex boundary, cutting turnover fees by 43.8%.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F172A"/>
                </a:solidFill>
                <a:latin typeface="Helvetica"/>
              </a:defRPr>
            </a:pPr>
            <a:r>
              <a:t>Shiza CKV (CB.AI.U4AIM25037)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Focus: Gaussian Hidden Markov Models (HMM)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Viva Question: How are unobservable market regimes inferred from price returns?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Defense Answer: A 3-State HMM models Bull, Consolidation, and Bear regimes. Transition matrix A and Gaussian emissions N(μ_k, σ_k^2) are calibrated via Baum-Welch EM, and real-time regimes are decoded via the Viterbi algorithm.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7706"/>
                </a:solidFill>
                <a:latin typeface="Helvetica"/>
              </a:defRPr>
            </a:pPr>
            <a:r>
              <a:t>Anwaika Sanvi (CB.AI.U4AIM25044)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Focus: 3D Tensor HoSVD Multilinear Factor Analysis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Viva Question: Why use 3D Tensor Tucker Decomposition over 2D PCA?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Defense Answer: 2D PCA flattens data and loses cross-mode correlations. Tucker HoSVD decomposes third-order tensor X into core tensor G and factor matrices U_1, U_2, U_3 across assets, time, and macro factors.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2578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06908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0B981"/>
                </a:solidFill>
                <a:latin typeface="Helvetica"/>
              </a:defRPr>
            </a:pPr>
            <a:r>
              <a:t>Joshika (CB.AI.U4AIM25014)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Focus: MDP RL Trade Slicer &amp; Quantum QAE Derivatives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Viva Question: How does Quantum Amplitude Estimation (QAE) achieve quadratic speedup?</a:t>
            </a:r>
          </a:p>
          <a:p>
            <a:pPr>
              <a:spcAft>
                <a:spcPts val="4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Defense Answer: Classical Monte Carlo error scales as O(1/√M). QAE applies Grover iterations Q in a 2-qubit Hilbert subspace, scaling error as O(1/M) and cutting derivative pricing queries quadratically.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