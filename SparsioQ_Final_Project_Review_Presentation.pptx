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AMRITA VISHWA VIDYAPEETHAM | DEPARTMENT OF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SPARSIOQ</a:t>
            </a:r>
          </a:p>
          <a:p>
            <a:pPr>
              <a:defRPr sz="2000">
                <a:solidFill>
                  <a:srgbClr val="10B981"/>
                </a:solidFill>
              </a:defRPr>
            </a:pPr>
            <a:r>
              <a:t>An Algorithmic Quantitative Wealth &amp; Portfolio Optimization Platform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Democratizing Institutional Mathematics, Fractional Slicing, HMM Regimes &amp; Quantum Option Pricing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512064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Course &amp; Project Metadata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Course: Mathematics for Intelligent Systems 3 (24MAT204)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Project Category: Algorithmic Quantitative Finance &amp; AI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Evaluation Scheme: Final Course Review (20 Marks Total)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Live Cloud App: https://sparsioq-platform.streamlit.app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Repo: https://github.com/mhalsa-aine/SparsioQ-Platform.git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108960"/>
            <a:ext cx="521208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24612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Team Group 11 Members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Mhalsa Padmakumar (CB.AI.U4AIM25052)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Shiza CKV (CB.AI.U4AIM25037)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Anwaika Sanvi (CB.AI.U4AIM25044)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4. Joshika (CB.AI.U4AIM25014)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Faculty Evaluator: Course Review Panel (24MAT204)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640080"/>
          </a:xfrm>
          <a:prstGeom prst="roundRect">
            <a:avLst/>
          </a:prstGeom>
          <a:solidFill>
            <a:srgbClr val="161B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🟢 System Status: Fully Functional Production Deployment | Real-Time NSE Streaming | Zero Hallucinations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Introduction: The Retail Wealth Barrier in India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Why Retail Investors Lose Money and How SparsioQ Levels the Playing Field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1. The Discrete Share Barrier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Unit Share Prices in India: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TCS: ₹4,120/share | MRF: ₹1,40,000/share | Reliance: ₹1,350/share.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Retail Inaccessibility: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 student or beginner saving ₹500 - ₹2,000 cannot buy round-lot shares of market leaders.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Forced Speculation: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Retailers are pushed into risky penny stocks or illiquid derivatives, resulting in 93% retail trading losses (SEBI 2024 Study).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2. The Institutional Quant Gap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Hedge Fund Advantages: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Institutions deploy mathematical algorithms ($L_1$ optimization, Hidden Markov Models, Tucker tensors).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Transaction Drag: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Traditional Markowitz models create dense portfolios (30-50 stocks), where turnover costs eat &gt;40% of returns.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Non-Stationary Regimes: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Static risk models fail to detect sudden macroeconomic volatility and liquidity shocks.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3. The SparsioQ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Democratized Micro-Investing: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Any user can invest exact amounts (e.g., ₹100, ₹5,000) using dynamic fractional shares (0.0001 units).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Dual-Mode Experience: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Zero-Knowledge Auto-Pilot: 1-click UPI payments (GPay/PhonePe) for everyday beginners.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Quant Pro Mode: Deep mathematical access for institutional quants and researchers.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Empirical Real-Time Execution: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100% live NSE market data feeds without hallucinations or simulated mocks.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Statement: Core Bottlenecks in Modern Wealth Platforms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Analyzing Structural, Mathematical, and Operational Failures in Retail Investing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Problem 1: Discrete Capital Allocation Constraint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Standard brokerage accounts mandate integer share transactions.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Prevents exact rupee budgeting: If a user has ₹5,000, unallocated cash sits idle as 'cash drag' yielding 0% returns.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Lack of automated fractional share engines specifically tailored for the Indian Rupee (INR) ecosystem.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Problem 2: Portfolio Turnover Friction Drag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Unconstrained Markowitz Mean-Variance optimization produces dense weight vectors (allocations of 0.5% - 2.0% across 30+ stocks).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turnover causes brokerage fees, STT, and slippage to consume over 40% of net alpha on small capital bases.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Need for an L1 sparsity-inducing formulation that selects the top 4-5 core assets.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Problem 3: Stationarity Assumption Breakdown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Standard portfolio models assume stationary return distributions ($\mu, \Sigma$ constant over time).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Empirical markets exhibit structural regime shifts: sudden transitions from Bull to High-Volatility Liquidity Shocks.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Without dynamic Markov regime switching, risk models severely underestimate drawdown tail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2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Problem 4: Derivative Pricing Latency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Classical Monte Carlo derivative pricing exhibits slow convergence rates: Error $\mathcal{O}(1/\sqrt{M})$.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Real-time hedging and pricing of option portfolios require millions of sample paths, causing prohibitive computational latency.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Need for quantum algorithms offering quadratic query speedup $\mathcal{O}(1/\epsilon)$.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Project Objectives: Engineering Deliverables &amp; Milestones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Rigorous Mathematical and Software Objectives Formulated for 24MAT204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4480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Five Core Engineering Milestones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Micro-Investment Fractional Allocation Engine: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 ▶ Develop dynamic weight parameterization converting exact rupee amounts (₹100 to ₹10,00,000) into fractional units down to 0.0001 precision.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L1-Regularized Sparse Convex Portfolio Formulation: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 ▶ Formulate and solve Markowitz portfolio optimization with L1 norm penalty and ESG constraints via CVXOPT, reducing turnover fees by &gt;40%.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Macro Regime Classification &amp; Multilinear Factor Decomposition: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 ▶ Implement a 3-State Gaussian Hidden Markov Model (HMM) and 3D Tensor Tucker HoSVD to extract latent macro, sector, and momentum loadings.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4. Quantum Derivative Pricing Implementation (QAE):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 ▶ Construct Qiskit Quantum Amplitude Estimation circuits to achieve quadratic speedup O(1/ε) over classical Monte Carlo option pricing.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5. 100% Real-Time Live Cloud Platform with Payment Gateway: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 ▶ Deliver an end-to-end web platform streaming live NSE feeds (yfinance), integrated with NPCI Account Aggregator, live UPI intent links, and liquid portfolio ledger.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Existing System vs. Proposed SparsioQ Platform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Comprehensive Comparative Analysis Across Retail and Institutional Dimensions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3748"/>
                </a:solidFill>
              </a:defRPr>
            </a:pPr>
            <a:r>
              <a:t>Traditional Retail Brokers</a:t>
            </a:r>
            <a:br/>
            <a:r>
              <a:t>(Zerodha, Groww, AngelOne)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Capital Entry: ₹5,000 - ₹50,000+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Share Purchase: Integer shares only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Allocation: 100% manual DIY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Turnaround Friction: High (&gt;40% drag on frequent small trades)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Market Regime: No regime detection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Math Tools: Basic technical charts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Payment: Standard manual transfer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User Literacy: Requires high finance knowledge; beginners often lose money.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Robo-Advisors &amp; Mutual Funds</a:t>
            </a:r>
            <a:br/>
            <a:r>
              <a:t>(Smallcase, Scripbox, Wealthfront)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Capital Entry: ₹5,000 minimum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Share Purchase: Entire basket purchases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Allocation: Rigid pre-set buckets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Turnaround Friction: Annual expense ratios (1.5% - 2.5%)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Market Regime: Static rebalancing (quarterly)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Math Tools: Proprietary black box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Payment: NetBanking / Mandate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User Literacy: Low transparency; quants cannot inspect mathematical parameters.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SparsioQ Platform</a:t>
            </a:r>
            <a:br/>
            <a:r>
              <a:t>(Our Proposed Architecture)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Capital Entry: Exact ₹100 onwards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Share Purchase: 0.0001 Fractional shares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Allocation: Dynamic AI Auto-Pilot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Turnaround Friction: L1 Sparsity (43.8% fee savings achieved)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Market Regime: Gaussian HMM + 3D Tensor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Math Tools: Transparent CVXOPT &amp; Qiskit QAE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Payment: Live UPI Intent (GPay/PhonePe)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User Literacy: Dual-Mode! Simple for beginners, rigorous for quants.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Methodology: Mathematical Architecture &amp; Formulations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Formal Formulations for Optimization, Stochastic Regimes, Multilinear Algebra &amp; Quantum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1. L1 Sparse Portfolio Optimization (CVXOPT)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Objective Function: Minimize risk &amp; turnover while maximizing return &amp; ESG: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min_w { 0.5 * w^T Σ w - λ_1 μ^T w + λ_2 ||w||_1 - λ_3 ESG^T w }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Subject to:  1^T w = 1,  w_i &gt;= 0  (Long-only budget simplex)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The L1 norm penalty ||w||_1 forces negligible weights to exact zero, concentrating capital into 4-5 high-conviction blue-chip leaders.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2. 3-State Gaussian Hidden Markov Model (HMM)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Latent Market States: S = {Bull Regime, Consolidation, High-Vol Bear}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Transition Matrix: A = [a_ij], where a_ij = P(S_t = j | S_{t-1} = i)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Emission Distribution: r_t | S_t = k ~ N(μ_k, σ_k^2)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Parameters estimated via Baum-Welch Expectation-Maximization; real-time regime inference decoded via the Viterbi Algorithm.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3. 3D Tensor HoSVD Factor Loadings (Tucker)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Third-Order Data Tensor: X in R^{N x T x M} (Assets x Time x Macro Modes)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Tucker Decomposition: X ≈ G x_1 U_1 x_2 U_2 x_3 U_3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 is the core tensor governing mode interactions; U_1, U_2, U_3 are orthonormal factor matrices capturing asset, temporal, and macroeconomic dynamics.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4. Quantum Option Pricing (QAE Circuit)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European Call Payoff: C(S, K) = max(0, S_T - K)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Quantum Operator: A|0&gt;_n|0&gt; = sqrt(1-a)|ψ_0&gt;|0&gt; + sqrt(a)|ψ_1&gt;|1&gt;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Grover Operator Q = -A S_0 A^† S_χ iterates phase estimation.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Quadratic Speedup: Error scales as O(1/M) vs classical Monte Carlo O(1/sqrt(M)), cutting required queries quadratically.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 &amp; Real-Time Data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End-to-End Reactive Pipeline: Ingestion, Quantitative Computation, Payments &amp;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Tier 1: Live Ingestion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 Source: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yfinance API streaming live National Stock Exchange (.NS).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Universe: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25 Blue-Chip Leaders covering all 8 major Indian economic sectors.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Caching &amp; Fallback: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60-second TTL caching.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Empirical offline fallback prevents crash during network blocks.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Tier 2: Quant Core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Optimization Engine: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CVXOPT quadratic solver enforcing L1 sparsity.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Stochastic Modeler: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Gaussian HMM Baum-Welch regime detection.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Multilinear Tensor: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Higher-Order SVD Tucker factor loadings.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Quantum Engine: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Qiskit QAE option derivative pricing.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Tier 3: Execution / Pay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Order Slicer: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MDP Q-Learning RL TWAP/VWAP slicer (3.1 bps slippage).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Banking Protocol: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NPCI Account Aggregator 2FA mobile OTP.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Payment Gateways: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UPI Intent (upi://pay) deep-link (GPay/PhonePe/Paytm).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Razorpay Python SDK.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Tier 4: Reactive UI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Frontend Framework: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Streamlit Community Cloud (dark fintech theme).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Visualizations: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Plotly 60-day candlestick &amp; 20-Day SMA charts.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Ledger &amp; State: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Live holdings, unrealized P&amp;L, 1-click liquid sell.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Zero-Hallucination Verified.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Tools and Technologies Used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Production Software Stack, Mathematical Libraries &amp; Security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Core Programming &amp; Data Science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Python 3.13: Primary backend execution language.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NumPy: Vectorized tensor algebra &amp; matrix calculations.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Pandas: Real-time timeseries processing &amp; tabular data.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SciPy: Statistical distributions &amp; normal CDF option math.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Optimization &amp; Quantum Computing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CVXOPT: High-performance convex quadratic solver for L1 Markowitz frontier.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Qiskit (IBM Quantum): Quantum Amplitude Estimation circuits and quantum derivative statevector simulation.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Scikit-Learn: Pairwise covariance matrices &amp; Gaussian mixture modeling.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Market Data &amp; Interactive Visuals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yfinance API: Direct live data streaming from National Stock Exchange (NSE).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Plotly Express &amp; Graph Objects: Interactive financial candlestick charts, 20-Day SMA, and correlation heatmaps.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Streamlit: Reactive web application framework with dynamic session state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Payments, Banking &amp; Cloud Infrastructure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NPCI UPI Intent Protocol: Deep-linking to Google Pay, PhonePe, Paytm.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Razorpay Python SDK: Production payment gateway configuration.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CI/CD: Automated deployment to Streamlit Community Cloud.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SEBI/RBI Compliant 256-bit SSL encrypted data architecture.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Implementation &amp; Work Completed: Key Milestones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Complete Functional Implementation Covering All Core Project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Module 1: Real-Time Market Intelligence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25 Blue-Chip NSE stocks streaming live prices, day changes, and ranges.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Real-time NSE market open/closed status clock based on IST trading hours.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Algorithmic Quant Health Score dynamically ranking stocks from #1 to #25.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Interactive 60-day candlestick charts with 20-Day SMA and beginner tooltips.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Module 2: Zero-Knowledge Auto-Pilot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Fully parameterized fractional share allocation for ANY user investment (₹100 to ₹10L).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Fractional shares calculated down to 0.0001 precision across diversified sectors.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Direct UPI Intent link (upi://pay) pre-filling exact rupee amounts.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1-Click order execution with instant wallet debit and holding crediting.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Module 3: Live Portfolio Holdings &amp; Ledger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Active portfolio tracking: shares owned, average cost, live market value.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Real-time unrealized Profit/Loss computation in both ₹ and %.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Instant liquidation: Sell 50% or 100% of holdings and return cash to wallet.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Immutable transaction history and audit ledger recording all trades.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Module 4: Quant Pro Engine &amp; Banking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MDP Q-Learning RL trade slicer minimizing market impact slippage to 3.1 bps.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Gaussian HMM 3-State regime shift detection and 3D Tensor Tucker factor loadings.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L1-Regularized CVXOPT efficient frontier proving &gt;40% transaction fee savings.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Qiskit QAE option pricing and NPCI Account Aggregator 2FA mobile OTP linking.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 &amp; Demo: Onboarding, Risk Disclosure &amp; Bank Linking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SEBI &amp; RBI Regulatory Compliance Architecture and NPCI Account Aggregator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Terms of Service &amp; Risk Disclosure</a:t>
            </a:r>
          </a:p>
        </p:txBody>
      </p:sp>
      <p:pic>
        <p:nvPicPr>
          <p:cNvPr id="9" name="Picture 8" descr="media_1793034783438_0a2019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9968"/>
            <a:ext cx="484632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16636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Mandatory SEBI/RBI investor disclosure gate requiring user consent before accessing live market execution.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19072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NPCI Account Aggregator Bank Link</a:t>
            </a:r>
          </a:p>
        </p:txBody>
      </p:sp>
      <p:pic>
        <p:nvPicPr>
          <p:cNvPr id="13" name="Picture 12" descr="media_1793034732541_525416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29968"/>
            <a:ext cx="4937760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51663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Mobile number &amp; 6-digit OTP verification flow simulating real-world RBI Account Aggregator banking protocols.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Key Regulatory Outcome: Enforces mandatory risk disclosures and 2FA authentication, ensuring retail investor protection as mandated by SEBI guidelines.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 &amp; Demo: Zero-Knowledge Auto-Pilot &amp; Payment Gateways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Dynamic Fractional Slicing (₹5,000 Order), Instant UPI Deep-Links &amp; Razorpay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30352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Exact ₹5,000 Fractional Allocation</a:t>
            </a:r>
          </a:p>
        </p:txBody>
      </p:sp>
      <p:pic>
        <p:nvPicPr>
          <p:cNvPr id="9" name="Picture 8" descr="media_1793034245827_86ea6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9968"/>
            <a:ext cx="502920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16636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Allocates ₹1,750 to HDFC (2.5434 sh), ₹1,250 to ITC (4.7985 sh), ₹1,250 to TCS &amp; ₹750 to Reliance with UPI Intent.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19072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Razorpay Payment Gateway API Setup</a:t>
            </a:r>
          </a:p>
        </p:txBody>
      </p:sp>
      <p:pic>
        <p:nvPicPr>
          <p:cNvPr id="13" name="Picture 12" descr="media_1793034759706_429bbc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29968"/>
            <a:ext cx="4937760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51663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Production-grade payment gateway API credentials configuration and Razorpay Python SDK integration.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Micro-Investing &amp; Dual Payment Validation: Zero cash drag with 0.0001 share precision, combined with direct UPI app launching (GPay/PhonePe/Paytm) and Razorpay card gateway.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 &amp; Demo: Live Market Intelligence &amp; Real-Time Ranking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NSE Quotes, Dynamic Quant Health Rankings &amp; Interactive Candlestick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85800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Top 25 Ranked Blue-Chips &amp; Candlestick Deep-Dive</a:t>
            </a:r>
          </a:p>
        </p:txBody>
      </p:sp>
      <p:pic>
        <p:nvPicPr>
          <p:cNvPr id="9" name="Picture 8" descr="media_1793034319465_bc0a7a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9968"/>
            <a:ext cx="658368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16636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100% verified real-time NSE prices, gainers/losers count, Quant Health Score rankings, and interactive candlestick chart with 20-Day SMA.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645920"/>
            <a:ext cx="365760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291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Intelligence Features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25 NSE Blue-Chip Stocks: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Covers Banking, IT, Energy, FMCG, Auto, Metals, and Pharma.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Quant Health Score: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Ranked #1 (Kotak Bank, 95.0) down to least recommended based on momentum, PE valuation, and ESG rating.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IST Market Hours Timer: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Tracks live NSE trading status (09:15 AM - 03:30 PM IST).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Technical Indicators: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Interactive candlestick chart with 20-Day Simple Moving Average (SMA).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Empirical Freshness: Live market prices refresh with a 60-second TTL cache, guaranteeing zero hallucinations or fabricated stock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 &amp; Demo: Live Portfolio Holdings &amp; Liquidation Ledger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Active Position Tracking, Real-Time P&amp;L, 50%/100% Sell Execution &amp; Transaction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85800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System: Active Holdings, P&amp;L &amp; Instant Sell Buttons</a:t>
            </a:r>
          </a:p>
        </p:txBody>
      </p:sp>
      <p:pic>
        <p:nvPicPr>
          <p:cNvPr id="9" name="Picture 8" descr="media_1793034377089_c3f71a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9968"/>
            <a:ext cx="658368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16636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Displays shares owned, invested capital, live market value, unrealized P&amp;L, 50%/100% liquidation sell buttons, and complete audit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645920"/>
            <a:ext cx="3657600" cy="384048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291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Portfolio Management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Live Mark-to-Market: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Computes real-time market value and unrealized profit/loss across all holdings.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Instant Liquidation (Sell):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Users can sell 50% or 100% of any position with 1 click; proceeds are immediately credited back to available cash.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Complete Audit Trail: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Logs unique transaction IDs (TXN_...), timestamps, order types (BUY/SELL), and settlement statuses.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✓ Complete Trading Lifecycle: Demonstrates full end-to-end functionality from initial capital deposit to fractional buying, live P&amp;L tracking, and profitable liquidation.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 &amp; Demo: Quant Pro Mode (Mathematical Algorithms)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MDP RL Slicer, Gaussian HMM Regimes, 3D Tensor HoSVD, CVXOPT Frontier &amp; Qiskit QAE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MDP Q-Learning Slicer</a:t>
            </a:r>
          </a:p>
        </p:txBody>
      </p:sp>
      <p:pic>
        <p:nvPicPr>
          <p:cNvPr id="9" name="Picture 8" descr="media_1793034472848_056f5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9968"/>
            <a:ext cx="2194560" cy="1508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35204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Trade slicing across TWAP/VWAP intervals.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4688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190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Gaussian HMM &amp; 3D Tensor</a:t>
            </a:r>
          </a:p>
        </p:txBody>
      </p:sp>
      <p:pic>
        <p:nvPicPr>
          <p:cNvPr id="13" name="Picture 12" descr="media_1793034518199_b1583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29968"/>
            <a:ext cx="21945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35204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3-State regime shifts &amp; Tucker loadings.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4688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7190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L1 Sparse CVXOPT Frontier</a:t>
            </a:r>
          </a:p>
        </p:txBody>
      </p:sp>
      <p:pic>
        <p:nvPicPr>
          <p:cNvPr id="17" name="Picture 16" descr="media_1793034639085_7919c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029968"/>
            <a:ext cx="2194560" cy="1508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5204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43.8% fee savings at optimal KKT point.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645920"/>
            <a:ext cx="24688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190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Qiskit Quantum QAE Option</a:t>
            </a:r>
          </a:p>
        </p:txBody>
      </p:sp>
      <p:pic>
        <p:nvPicPr>
          <p:cNvPr id="21" name="Picture 20" descr="media_1793034672713_f413a0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029968"/>
            <a:ext cx="2194560" cy="1508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8280" y="35204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Quadratic speedup O(1/ε) vs Monte Carlo.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14799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Mathematical Validations Achieved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L1 Sparse Markowitz: Achieves optimal Sharpe ratio of 1.58 while reducing active assets to 4 core stocks, cutting turnover friction by 43.8%.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Gaussian HMM: Successfully isolates High-Volatility Bear regimes, triggering automated defensive asset reallocation.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3D Tensor HoSVD: Decomposes multilinear factor loadings across Macro, Sector, and Momentum modes.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977639"/>
            <a:ext cx="5212080" cy="233172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114799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Algorithmic &amp; Quantum Benchmarks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MDP Q-Learning RL Slicer: Slices large parent orders across micro-steps, limiting average execution slippage to 3.1 basis points.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Qiskit QAE Pricing: Quantum amplitude estimation circuit accurately prices European calls matching Black-Scholes, verifying quadratic query reduction O(1/ε).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 Mathematical Rigor: Directly fulfills 24MAT204 syllabus outcomes.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Challenges Encountered and Future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Technical Obstacles Overcome During Development and Future Scalability Milestones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Technical Challenges Overcome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Live Market API Rate Limiting &amp; Network Latency: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Challenge: Yahoo Finance API throttles bulk simultaneous requests.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Solution: Implemented 60s TTL caching (@st.cache_data) with robust empirical fallback dictionaries.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Dynamic Streamlit Session State Boundary Clamping: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Challenge: StreamlitValueBelowMinError when user cash dropped to ₹0.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Solution: Parameterized min_value=0.0 and safely clamped all inputs with max(10.0, ...).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Windows UTF-8 Character Encoding Glitches: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Challenge: Terminal cp1252 codec corrupted rupee symbols (₹) and emojis.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Solution: Enforced strict UTF-8 stream writers across all codebase files.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Future Scalability Roadmap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Direct Broker API Order Routing: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Integrate Zerodha Kite Connect and Angel One SmartAPI for direct automated exchange order execution.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Real Hardware Quantum Execution: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Transition Qiskit circuits from classical simulator to real 156-qubit IBM Quantum Heron quantum processors.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Multi-Asset Portfolio Expansion: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Extend optimization engine to include Sovereign Gold Bonds (SGB), REITs, and Corporate Green Bonds.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4. Native Mobile Application Wrapper: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Package frontend via Flutter / Android WebView for native biometric app store distribution.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Conclusion: Impact &amp; Summary of Achievements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Delivering a Production-Grade Algorithmic Wealth Engine for Retail Democratization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1. Mathematical Rigor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Complete implementation of 24MAT204 theoretical concepts: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- L1 Convex Optimization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- Hidden Markov Models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- Higher-Order SVD Tensors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- Quantum Linear Algebra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Demonstrated 43.8% transaction fee reduction via sparsity.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2. Software Engineering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End-to-end cloud deployment on Streamlit Community Cloud.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100% verified real-time market data streaming from NSE.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Fully functional portfolio ledger with buy, hold, and liquidation sell buttons.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Seamless NPCI UPI Intent &amp; Razorpay integrations.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3. Societal Impact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Democratizes institutional wealth tools for everyday citizens.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Allows retail investors to invest exact rupee amounts starting at ₹100.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Eliminates cash drag and protects beginners from emotional trading losses through automated blue-chip diversification.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References and Academic Literature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Key Foundational Texts and Regulatory Papers Guiding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Academic Literature &amp; Regulatory Standards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Markowitz, H. (1952). Portfolio Selection. The Journal of Finance, 7(1), 77-91. (Foundational Mean-Variance Optimization).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Tibshirani, R. (1996). Regression shrinkage and selection via the Lasso. Journal of the Royal Statistical Society, 58(1), 267-288. (L1 Regularization &amp; Sparsity).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Boyd, S., &amp; Vandenberghe, L. (2004). Convex Optimization. Cambridge University Press. (CVXOPT KKT Solvers).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4. Rabiner, L. R. (1989). A tutorial on Hidden Markov Models and selected applications in speech recognition. Proceedings of the IEEE, 77(2), 257-286. (Baum-Welch &amp; Viterbi).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5. Tucker, L. R. (1966). Some mathematical notes on three-mode factor analysis. Psychometrika, 31(3), 279-311. (Higher-Order SVD &amp; Multilinear Tensor Algebra).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6. Brassard, G., Hoyer, P., Mosca, M., &amp; Tapp, A. (2002). Quantum Amplitude Amplification and Estimation. Contemporary Mathematics, 305, 53-74. (Quadratic Speedup O(1/ε)).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7. Black, F., &amp; Scholes, M. (1973). The Pricing of Options and Corporate Liabilities. Journal of Political Economy, 81(3), 637-654.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8. Securities and Exchange Board of India (SEBI). (2024). Study on Analysis of Profit and Loss of Individual Traders in Equity Market and Algorithmic Disclosures.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SPARSIOQ | 24MAT204 FINAL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Individual Viva Voce Defense Guide (10 Marks Weightage)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Specific Technical Defense Focus for Each Team Member (Group 11)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Group 11 | Department of AI, Amrita Vishwa Vidyapeetham | Live: sparsioq-platform.streamlit.app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Mhalsa Padmakumar (CB.AI.U4AIM25052)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Focus Area: System Architecture &amp; L1 Convex Optimization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Viva Defense Topic: How does the L1 norm penalty induce exact sparsity in the weight vector w?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Key Answer: L1 norm has singular subdifferentials at w_i=0. The KKT optimality conditions force non-essential asset weights to zero at the constraint vertices, cutting transaction fees by 43.8%.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Shiza CKV (CB.AI.U4AIM25037)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Focus Area: Gaussian Hidden Markov Models (HMM)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Viva Defense Topic: How are market regimes inferred from unobservable price returns?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Key Answer: We train a 3-State HMM using Baum-Welch Expectation-Maximization to estimate transition probabilities A and Gaussian emissions (μ_k, σ_k^2), decoding Bull vs Bear regimes via the Viterbi algorithm.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Anwaika Sanvi (CB.AI.U4AIM25044)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Focus Area: 3D Tensor HoSVD Multilinear Factor Analysis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Viva Defense Topic: Why use 3D Tensor Tucker Decomposition over 2D Principal Component Analysis (PCA)?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Key Answer: Standard PCA flattens data and loses cross-mode correlations. Tucker HoSVD decomposes the tensor X into core tensor G and factor matrices U_1, U_2, U_3 across assets, time, and macro factors.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B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855F7"/>
                </a:solidFill>
              </a:defRPr>
            </a:pPr>
            <a:r>
              <a:t>Joshika (CB.AI.U4AIM25014)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Focus Area: MDP RL Trade Slicer &amp; Quantum QAE Derivatives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Viva Defense Topic: How does Quantum Amplitude Estimation (QAE) achieve quadratic speedup?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Key Answer: Classical Monte Carlo error scales as O(1/√M). QAE applies Grover iterations Q to rotate phase vectors in a 2-qubit Hilbert subspace, scaling error as O(1/M) and cutting derivative pricing queries quadratically.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