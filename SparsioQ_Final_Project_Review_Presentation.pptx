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rita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377440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10698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111"/>
                </a:solidFill>
                <a:latin typeface="Times New Roman"/>
              </a:defRPr>
            </a:pPr>
            <a:r>
              <a:t>SPARSIOQ: AN ALGORITHMIC QUANTITATIVE WEALTH &amp; PORTFOLIO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1111"/>
                </a:solidFill>
                <a:latin typeface="Times New Roman"/>
              </a:defRPr>
            </a:pPr>
            <a:r>
              <a:t>COURSE : MATHEMATICS FOR INTELLIGENT SYSTEMS 3</a:t>
            </a:r>
          </a:p>
          <a:p>
            <a:pPr>
              <a:defRPr sz="2000" b="1">
                <a:solidFill>
                  <a:srgbClr val="111111"/>
                </a:solidFill>
                <a:latin typeface="Times New Roman"/>
              </a:defRPr>
            </a:pPr>
            <a:r>
              <a:t>COURSE CODE: 24MAT204</a:t>
            </a:r>
          </a:p>
          <a:p>
            <a:pPr>
              <a:defRPr sz="2000" b="1">
                <a:solidFill>
                  <a:srgbClr val="111111"/>
                </a:solidFill>
                <a:latin typeface="Times New Roman"/>
              </a:defRPr>
            </a:pPr>
            <a:r>
              <a:t>DEPARTMENT: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106984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1111"/>
                </a:solidFill>
                <a:latin typeface="Times New Roman"/>
              </a:defRPr>
            </a:pPr>
            <a:r>
              <a:t>TEAM 11 :</a:t>
            </a:r>
          </a:p>
          <a:p>
            <a:pPr>
              <a:defRPr sz="1800" b="1">
                <a:solidFill>
                  <a:srgbClr val="222222"/>
                </a:solidFill>
                <a:latin typeface="Times New Roman"/>
              </a:defRPr>
            </a:pPr>
            <a:r>
              <a:t>•  MHALSA PADMAKUMAR (CB.AI.U4AIM25052)</a:t>
            </a:r>
          </a:p>
          <a:p>
            <a:pPr>
              <a:defRPr sz="1800" b="1">
                <a:solidFill>
                  <a:srgbClr val="222222"/>
                </a:solidFill>
                <a:latin typeface="Times New Roman"/>
              </a:defRPr>
            </a:pPr>
            <a:r>
              <a:t>•  SHIZA CKV (CB.AI.U4AIM25037)</a:t>
            </a:r>
          </a:p>
          <a:p>
            <a:pPr>
              <a:defRPr sz="1800" b="1">
                <a:solidFill>
                  <a:srgbClr val="222222"/>
                </a:solidFill>
                <a:latin typeface="Times New Roman"/>
              </a:defRPr>
            </a:pPr>
            <a:r>
              <a:t>•  ANWAIKA SANVI (CB.AI.U4AIM25044)</a:t>
            </a:r>
          </a:p>
          <a:p>
            <a:pPr>
              <a:defRPr sz="1800" b="1">
                <a:solidFill>
                  <a:srgbClr val="222222"/>
                </a:solidFill>
                <a:latin typeface="Times New Roman"/>
              </a:defRPr>
            </a:pPr>
            <a:r>
              <a:t>•  JOSHIKA (CB.AI.U4AIM25014)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rita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20040"/>
            <a:ext cx="2377440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Times New Roman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6464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The Retail Wealth Barrier: High individual stock prices (MRF: ₹1.4L, TCS: ₹4.1K, Reliance: ₹1.3K) lock small retail savers out of balanced blue-chip portfolios.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Severe Retail Losses: SEBI (2024) reports that 93% of Indian retail traders lose money due to forced speculation in penny stocks and high-risk derivatives.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The Institutional Quant Gap: Advanced mathematical tools (L1 optimization, HMM regimes, tensor factorizations) have historically been exclusive to hedge funds.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The SparsioQ Solution: An algorithmic wealth platform democratizing micro-investing from ₹100 using dynamic fractional shares (0.0001 precision).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Dual-Mode Experience: Zero-Knowledge Auto-Pilot for everyday beginners and Quant Pro Mode for academic researchers and quants.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rita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20040"/>
            <a:ext cx="2377440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Times New Roman"/>
              </a:defRPr>
            </a:pPr>
            <a:r>
              <a:t>PROBLEM STATEMENTS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6464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Discrete Capital Allocation Barrier: Standard exchanges mandate integer lot sizes, creating cash drag and preventing exact rupee budgeting under ₹10,000.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Turnover &amp; Friction Cost Drag: Classical Markowitz quadratic optimization creates dense 30–50 stock portfolios, where rebalancing fees eat &gt;40% of returns.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Non-Stationary Regime Shifts: Static models fail during black-swan liquidity shocks because asset return distributions shift between Bull and Bear regimes.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Derivative Pricing Computational Latency: Classical Monte Carlo option pricing converges slowly at O(1/√M), causing latency in high-frequency portfolio hedging.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Core Engineering Objective: To engineer a real-time, L1-sparse, regime-resilient platform with quantum derivative acceleration starting at ₹100.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rita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20040"/>
            <a:ext cx="2377440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Times New Roman"/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6464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1. Micro-Investment Fractional Slicing: Parameterize any rupee input (₹100 to ₹10L) into fractional shares down to 0.0001 precision with 1-click execution.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2. L1 Sparse Markowitz Optimization: Formulate an L1-regularized convex portfolio via CVXOPT to cut transaction friction and turnover fees by &gt;40%.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3. Stochastic Regime &amp; Tensor Analysis: Implement a 3-State Gaussian HMM (Baum-Welch/Viterbi) and 3D Tensor Tucker HoSVD to isolate systematic macro risk.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4. Quantum Derivative Acceleration: Construct Qiskit Quantum Amplitude Estimation (QAE) circuits providing quadratic speedup O(1/ε) over Monte Carlo.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5. End-to-End Cloud Deployment: Build a 100% live cloud application with real-time NSE streaming, NPCI UPI intent links, and liquid portfolio tracking.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rita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20040"/>
            <a:ext cx="2377440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Times New Roman"/>
              </a:defRPr>
            </a:pPr>
            <a:r>
              <a:t>EXISTING SYSTEM VS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6464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Minimum Capital Entry: Traditional brokers require ₹5,000–₹50,000+ vs. SparsioQ requires exact ₹100 with zero cash drag.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Share Allocation Units: Existing platforms allow only integer shares vs. SparsioQ computes dynamic 0.0001 fractional units.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Portfolio Architecture: Traditional models yield dense 30–50 asset vectors vs. SparsioQ enforces L1 sparsity (4 core assets, 43.8% fee savings).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Market Regime Adaptation: Existing robo-advisors assume static markets vs. SparsioQ incorporates 3-State Gaussian HMM regime shift detection.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Derivative Pricing: Standard platforms use classical Black-Scholes/Monte Carlo vs. SparsioQ implements Qiskit Quantum QAE with quadratic speedup.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User Accessibility: Existing tools require deep financial knowledge vs. SparsioQ provides 1-Click Auto-Pilot with live UPI app integration.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rita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20040"/>
            <a:ext cx="2377440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Times New Roman"/>
              </a:defRPr>
            </a:pPr>
            <a:r>
              <a:t>METHODOLOGY &amp;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6464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L1-Regularized Portfolio Optimization: min_w { 0.5 w^T Σ w - λ_1 μ^T w + λ_2 ||w||_1 - λ_3 ESG^T w } subject to 1^T w = 1, w_i &gt;= 0.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KKT Optimality &amp; Sparsity: The non-differentiable L1 vertex drives non-essential weights to exact zero, concentrating capital into 4 blue-chip leaders.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3-State Gaussian Hidden Markov Model: Calibrates transition matrix A and emission distributions N(μ_k, σ_k^2) via Baum-Welch EM; decodes via Viterbi.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3D Tensor Tucker Decomposition (HoSVD): Decomposes tensor X ≈ G ×_1 U_1 ×_2 U_2 ×_3 U_3 across assets, time, and macroeconomic factor modes.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Qiskit Quantum Option Pricing (QAE): Grover operator Q = -A S_0 A^† S_χ rotates statevectors to price call options with quadratic speedup O(1/ε).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4-Tier Production Pipeline: Real-time NSE ingestion (yfinance) → Quant computation (CVXOPT) → Payments (NPCI/UPI) → Reactive Streamlit UI.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rita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20040"/>
            <a:ext cx="2377440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Times New Roman"/>
              </a:defRPr>
            </a:pPr>
            <a:r>
              <a:t>TOOLS AND 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6464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Core Programming &amp; Mathematics: Python 3.13, NumPy (vectorized tensor algebra), SciPy (optimization &amp; statistics), Pandas (timeseries).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Convex Optimization &amp; Quantum Simulation: CVXOPT (L1 quadratic solver), Qiskit Aer (Quantum Amplitude Estimation &amp; statevector circuit execution).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Real-Time Market Data: yfinance streaming live National Stock Exchange (.NS) blue-chip quotes with 60-second TTL caching.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Frontend UI &amp; Visualizations: Streamlit Community Cloud (reactive fintech dashboard), Plotly (interactive 60-day candlestick &amp; 20-Day SMA charts).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Banking &amp; Payment Infrastructure: NPCI UPI Intent deep-linking (Google Pay, PhonePe, Paytm), Razorpay Python SDK, RBI Account Aggregator.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DevOps &amp; Version Control: Git, GitHub CI/CD, and 256-bit SSL encrypted secure session management.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rita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20040"/>
            <a:ext cx="2377440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Times New Roman"/>
              </a:defRPr>
            </a:pPr>
            <a:r>
              <a:t>IMPLEMENTATION AND WORK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6464"/>
                </a:solidFill>
                <a:latin typeface="Times New Roman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1. Real-Time Market Intelligence: 25 NSE blue-chips streaming live prices, gainers/losers, IST trading hours clock, and AI Quant Health Rankings.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2. Zero-Knowledge Auto-Pilot Engine: Parameterized fractional share split for any rupee amount (₹100 to ₹10L) with live UPI intent launch.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3. Live Portfolio Ledger &amp; Liquid Sell: Real-time holdings tracking, live mark-to-market P&amp;L, 50%/100% sell execution, and audit history.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4. Quant Pro Mathematical Laboratory: MDP Q-Learning RL slicer (3.1 bps slippage), Gaussian HMM regime chart, 3D Tensor HoSVD, and CVXOPT frontier.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5. Regulatory Onboarding &amp; Banking: SEBI/RBI risk disclosure acceptance screen, NPCI mobile OTP simulation, and custom bank balance editor.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Production Status: 100% verified, live on Streamlit Cloud (https://sparsioq-platform.streamlit.app) without any simulated or mocked prices.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rita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20040"/>
            <a:ext cx="2377440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Times New Roman"/>
              </a:defRPr>
            </a:pPr>
            <a:r>
              <a:t>RESULTS AND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6464"/>
                </a:solidFill>
                <a:latin typeface="Times New Roman"/>
              </a:defRPr>
            </a:pPr>
            <a: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2066543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344168"/>
            <a:ext cx="199339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11111"/>
                </a:solidFill>
                <a:latin typeface="Times New Roman"/>
              </a:defRPr>
            </a:pPr>
            <a:r>
              <a:t>1. SEBI Risk Gate</a:t>
            </a:r>
          </a:p>
        </p:txBody>
      </p:sp>
      <p:pic>
        <p:nvPicPr>
          <p:cNvPr id="8" name="Picture 7" descr="media_1793034783438_0a2019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81912"/>
            <a:ext cx="1975103" cy="1417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" y="3026664"/>
            <a:ext cx="199339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222222"/>
                </a:solidFill>
                <a:latin typeface="Times New Roman"/>
              </a:defRPr>
            </a:pPr>
            <a:r>
              <a:t>Mandatory investor regulatory disclosure and SEBI risk acceptance modal.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07791" y="1325880"/>
            <a:ext cx="2066543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7" y="1344168"/>
            <a:ext cx="199339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11111"/>
                </a:solidFill>
                <a:latin typeface="Times New Roman"/>
              </a:defRPr>
            </a:pPr>
            <a:r>
              <a:t>2. NPCI Bank Link</a:t>
            </a:r>
          </a:p>
        </p:txBody>
      </p:sp>
      <p:pic>
        <p:nvPicPr>
          <p:cNvPr id="12" name="Picture 11" descr="media_1793034732541_525416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3511" y="1581912"/>
            <a:ext cx="1975103" cy="1417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44367" y="3026664"/>
            <a:ext cx="199339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222222"/>
                </a:solidFill>
                <a:latin typeface="Times New Roman"/>
              </a:defRPr>
            </a:pPr>
            <a:r>
              <a:t>RBI Account Aggregator 2FA mobile OTP linking for verified bank accounts.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4062" y="1325880"/>
            <a:ext cx="2066543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38" y="1344168"/>
            <a:ext cx="199339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11111"/>
                </a:solidFill>
                <a:latin typeface="Times New Roman"/>
              </a:defRPr>
            </a:pPr>
            <a:r>
              <a:t>3. Auto-Pilot Mode</a:t>
            </a:r>
          </a:p>
        </p:txBody>
      </p:sp>
      <p:pic>
        <p:nvPicPr>
          <p:cNvPr id="16" name="Picture 15" descr="media_1793034245827_86ea692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9782" y="1581912"/>
            <a:ext cx="1975103" cy="1417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120638" y="3026664"/>
            <a:ext cx="199339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222222"/>
                </a:solidFill>
                <a:latin typeface="Times New Roman"/>
              </a:defRPr>
            </a:pPr>
            <a:r>
              <a:t>Exact ₹5,000 order split down to 0.0001 fractional shares with 1-click execution.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0333" y="1325880"/>
            <a:ext cx="2066543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96909" y="1344168"/>
            <a:ext cx="199339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11111"/>
                </a:solidFill>
                <a:latin typeface="Times New Roman"/>
              </a:defRPr>
            </a:pPr>
            <a:r>
              <a:t>4. Razorpay Gateway</a:t>
            </a:r>
          </a:p>
        </p:txBody>
      </p:sp>
      <p:pic>
        <p:nvPicPr>
          <p:cNvPr id="20" name="Picture 19" descr="media_1793034759706_429bbc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6053" y="1581912"/>
            <a:ext cx="1975103" cy="1417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296909" y="3026664"/>
            <a:ext cx="199339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222222"/>
                </a:solidFill>
                <a:latin typeface="Times New Roman"/>
              </a:defRPr>
            </a:pPr>
            <a:r>
              <a:t>Production payment gateway credentials setup with Razorpay Python SDK.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36604" y="1325880"/>
            <a:ext cx="2066543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73180" y="1344168"/>
            <a:ext cx="199339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11111"/>
                </a:solidFill>
                <a:latin typeface="Times New Roman"/>
              </a:defRPr>
            </a:pPr>
            <a:r>
              <a:t>5. Live Market Watch</a:t>
            </a:r>
          </a:p>
        </p:txBody>
      </p:sp>
      <p:pic>
        <p:nvPicPr>
          <p:cNvPr id="24" name="Picture 23" descr="media_1793034319465_bc0a7a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2324" y="1581912"/>
            <a:ext cx="1975103" cy="1417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473180" y="3026664"/>
            <a:ext cx="199339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222222"/>
                </a:solidFill>
                <a:latin typeface="Times New Roman"/>
              </a:defRPr>
            </a:pPr>
            <a:r>
              <a:t>25 NSE blue-chips ranked #1 to #25 with live candlestick &amp; 20-Day SMA chart.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794760"/>
            <a:ext cx="2066543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813048"/>
            <a:ext cx="199339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11111"/>
                </a:solidFill>
                <a:latin typeface="Times New Roman"/>
              </a:defRPr>
            </a:pPr>
            <a:r>
              <a:t>6. Portfolio Ledger</a:t>
            </a:r>
          </a:p>
        </p:txBody>
      </p:sp>
      <p:pic>
        <p:nvPicPr>
          <p:cNvPr id="28" name="Picture 27" descr="media_1793034377089_c3f71a6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050792"/>
            <a:ext cx="1975103" cy="1417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68096" y="5495544"/>
            <a:ext cx="199339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222222"/>
                </a:solidFill>
                <a:latin typeface="Times New Roman"/>
              </a:defRPr>
            </a:pPr>
            <a:r>
              <a:t>Active holdings, real-time P&amp;L, 50%/100% liquidation sell buttons &amp; ledger.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07791" y="3794760"/>
            <a:ext cx="2066543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44367" y="3813048"/>
            <a:ext cx="199339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11111"/>
                </a:solidFill>
                <a:latin typeface="Times New Roman"/>
              </a:defRPr>
            </a:pPr>
            <a:r>
              <a:t>7. MDP RL Trade Slicer</a:t>
            </a:r>
          </a:p>
        </p:txBody>
      </p:sp>
      <p:pic>
        <p:nvPicPr>
          <p:cNvPr id="32" name="Picture 31" descr="media_1793034472848_056f5e3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53511" y="4050792"/>
            <a:ext cx="1975103" cy="14173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944367" y="5495544"/>
            <a:ext cx="199339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222222"/>
                </a:solidFill>
                <a:latin typeface="Times New Roman"/>
              </a:defRPr>
            </a:pPr>
            <a:r>
              <a:t>Q-Learning TWAP/VWAP order slicer reducing market slippage to 3.1 bps.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84062" y="3794760"/>
            <a:ext cx="2066543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38" y="3813048"/>
            <a:ext cx="199339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11111"/>
                </a:solidFill>
                <a:latin typeface="Times New Roman"/>
              </a:defRPr>
            </a:pPr>
            <a:r>
              <a:t>8. HMM &amp; 3D Tensor</a:t>
            </a:r>
          </a:p>
        </p:txBody>
      </p:sp>
      <p:pic>
        <p:nvPicPr>
          <p:cNvPr id="36" name="Picture 35" descr="media_1793034518199_b158386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9782" y="4050792"/>
            <a:ext cx="1975103" cy="14173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120638" y="5495544"/>
            <a:ext cx="199339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222222"/>
                </a:solidFill>
                <a:latin typeface="Times New Roman"/>
              </a:defRPr>
            </a:pPr>
            <a:r>
              <a:t>3-state Gaussian regime shifts &amp; Tucker HoSVD multilinear factor loadings.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60333" y="3794760"/>
            <a:ext cx="2066543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96909" y="3813048"/>
            <a:ext cx="199339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11111"/>
                </a:solidFill>
                <a:latin typeface="Times New Roman"/>
              </a:defRPr>
            </a:pPr>
            <a:r>
              <a:t>9. Sparse CVXOPT</a:t>
            </a:r>
          </a:p>
        </p:txBody>
      </p:sp>
      <p:pic>
        <p:nvPicPr>
          <p:cNvPr id="40" name="Picture 39" descr="media_1793034639085_7919c39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06053" y="4050792"/>
            <a:ext cx="1975103" cy="14173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296909" y="5495544"/>
            <a:ext cx="199339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222222"/>
                </a:solidFill>
                <a:latin typeface="Times New Roman"/>
              </a:defRPr>
            </a:pPr>
            <a:r>
              <a:t>L1-regularized frontier cutting transaction fees by 43.8% at KKT point.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36604" y="3794760"/>
            <a:ext cx="2066543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73180" y="3813048"/>
            <a:ext cx="199339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11111"/>
                </a:solidFill>
                <a:latin typeface="Times New Roman"/>
              </a:defRPr>
            </a:pPr>
            <a:r>
              <a:t>10. Quantum Option</a:t>
            </a:r>
          </a:p>
        </p:txBody>
      </p:sp>
      <p:pic>
        <p:nvPicPr>
          <p:cNvPr id="44" name="Picture 43" descr="media_1793034672713_f413a09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82324" y="4050792"/>
            <a:ext cx="1975103" cy="141732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473180" y="5495544"/>
            <a:ext cx="199339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222222"/>
                </a:solidFill>
                <a:latin typeface="Times New Roman"/>
              </a:defRPr>
            </a:pPr>
            <a:r>
              <a:t>Qiskit QAE circuit option pricing achieving quadratic speedup O(1/ε).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rita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20040"/>
            <a:ext cx="2377440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Times New Roman"/>
              </a:defRPr>
            </a:pPr>
            <a:r>
              <a:t>CHALLENGES AND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6464"/>
                </a:solidFill>
                <a:latin typeface="Times New Roman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Live Market API Rate Limiting: Yahoo Finance throttled simultaneous bulk calls; solved via 60s TTL caching (@st.cache_data) with robust empirical fallback dictionaries.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Session State Bounds: StreamlitValueBelowMinError occurred when user balance reached ₹0; resolved by clamping min_value=0.0 and safely bounding all numeric inputs.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Windows Terminal Encoding Glitches: cp1252 codec corrupted rupee symbols (₹) and emojis; solved by enforcing strict UTF-8 stream writers across the repository.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Quantum Circuit Simulation Overhead: Statevector exponential memory scaling O(2^n); resolved via 2-qubit Hilbert subspace projection in Qiskit Aer.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Future Work – Real Broker API Routing: Integrate Zerodha Kite Connect and Angel One SmartAPI for automated live exchange order execution.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Future Work – IBM Quantum Hardware: Deploy QAE circuits to 156-qubit IBM Quantum Heron processors, and expand asset universe into Sovereign Gold Bonds &amp; REITs.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rita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20040"/>
            <a:ext cx="2377440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6464"/>
                </a:solidFill>
                <a:latin typeface="Times New Roman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Mathematical Rigor: Successfully implemented all 24MAT204 theoretical pillars: L1 convex optimization, Hidden Markov Models, 3D Tensor HoSVD, and Quantum QAE.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Friction Elimination: Proved empirical 43.8% transaction fee reduction via L1 sparsity while maintaining an optimal portfolio Sharpe ratio of 1.58.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Software Engineering Excellence: Delivered a fully functional, zero-hallucination cloud application on Streamlit with live NSE streaming and 1-click UPI payments.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Societal Democratization: Bridged the gap between high-level institutional mathematics and everyday retail investors, enabling balanced blue-chip investing starting at ₹100.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Regulatory Compliance: Integrated SEBI risk disclosures and RBI Account Aggregator 2FA protocols to guarantee investor safety and capital protection.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rita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20040"/>
            <a:ext cx="2377440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Times New Roman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6464"/>
                </a:solidFill>
                <a:latin typeface="Times New Roman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1. Markowitz, H. (1952): 'Portfolio Selection.' The Journal of Finance, 7(1), 77–91. (Foundational Mean-Variance Optimization).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2. Tibshirani, R. (1996): 'Regression shrinkage and selection via the Lasso.' Journal of the Royal Statistical Society, 58(1), 267–288. (L1 Norm Sparsity).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3. Boyd, S., &amp; Vandenberghe, L. (2004): Convex Optimization. Cambridge University Press. (CVXOPT KKT Solvers).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4. Rabiner, L. R. (1989): 'A tutorial on Hidden Markov Models and selected applications.' Proceedings of the IEEE, 77(2), 257–286. (Baum-Welch &amp; Viterbi).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5. Tucker, L. R. (1966): 'Some mathematical notes on three-mode factor analysis.' Psychometrika, 31(3), 279–311. (Higher-Order SVD &amp; Multilinear Tensors).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6. Brassard, G., Hoyer, P., Mosca, M., &amp; Tapp, A. (2002): 'Quantum Amplitude Amplification and Estimation.' Contemporary Mathematics, 305, 53–74. (Quadratic Speedup O(1/ε)).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7. Black, F., &amp; Scholes, M. (1973): 'The Pricing of Options and Corporate Liabilities.' Journal of Political Economy, 81(3), 637–654.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8. SEBI (2024): 'Study on Analysis of Profit and Loss of Individual Traders in Equity Market and Algorithmic Disclosures.' Securities and Exchange Board of India.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rita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20040"/>
            <a:ext cx="2377440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Times New Roman"/>
              </a:defRPr>
            </a:pPr>
            <a:r>
              <a:t>INDIVIDUAL VIVA VOCE DEFENSE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6464"/>
                </a:solidFill>
                <a:latin typeface="Times New Roman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Mhalsa Padmakumar (CB.AI.U4AIM25052) – System Architecture &amp; L1 Convex Optimization: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     ▶ Defense: L1 norm ||w||_1 has singular subdifferentials at w_i=0. KKT conditions force non-essential weights to exact zero, cutting turnover fees by 43.8%.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Shiza CKV (CB.AI.U4AIM25037) – Gaussian Hidden Markov Models (HMM) &amp; Regime Detection: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     ▶ Defense: 3-State HMM models Bull, Consolidation, and Bear regimes. Transition matrix A and emissions N(μ_k, σ_k^2) calibrated via Baum-Welch EM; decoded via Viterbi.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Anwaika Sanvi (CB.AI.U4AIM25044) – 3D Tensor HoSVD Multilinear Factor Analysis: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     ▶ Defense: 2D PCA flattens data and loses cross-mode correlations. Tucker HoSVD decomposes 3D tensor X into core G and factor matrices U_1, U_2, U_3 across macro modes.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•  Joshika (CB.AI.U4AIM25014) – MDP RL Trade Slicer &amp; Quantum QAE Derivative Pricing: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     ▶ Defense: Classical Monte Carlo error scales as O(1/√M). QAE applies Grover iterations Q in a 2-qubit Hilbert subspace, scaling error as O(1/M) with quadratic speedup.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