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6576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0584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SPARSIOQ: AN ALGORITHMIC QUANTITATIVE WEALTH &amp; PORTFOLIO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COURSE : MATHEMATICS FOR INTELLIGENT SYSTEMS 3</a:t>
            </a:r>
          </a:p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COURSE CODE: 24MAT204</a:t>
            </a:r>
          </a:p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DEPARTMENT: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11111"/>
                </a:solidFill>
                <a:latin typeface="Times New Roman"/>
              </a:defRPr>
            </a:pPr>
            <a:r>
              <a:t>TEAM 11 :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MHALSA PADMAKUMAR (CB.AI.U4AIM25052)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SHIZA CKV (CB.AI.U4AIM25037)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ANWAIKA SANVI (CB.AI.U4AIM25044)</a:t>
            </a:r>
          </a:p>
          <a:p>
            <a:pPr>
              <a:defRPr sz="1800" b="1">
                <a:solidFill>
                  <a:srgbClr val="222222"/>
                </a:solidFill>
                <a:latin typeface="Times New Roman"/>
              </a:defRPr>
            </a:pPr>
            <a:r>
              <a:t>•  JOSHIKA (CB.AI.U4AIM25014)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High Share Prices Block Small Savers: Premium companies like MRF (MRF Limited at ₹1.4 Lakhs) and TCS (Tata Consultancy Services at ₹4,100) prevent everyday beginners from owning safe blue-chip shares.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Over 90% Retail Loss Rate: Official studies by SEBI (Securities and Exchange Board of India) confirm that over 90% of individual traders lose money due to speculative stock gambling and lack of diversification.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The Institutional Mathematical Gap: Advanced portfolio optimization and risk detection models have traditionally been available only to elite institutional hedge funds and wealthy investors.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SparsioQ Core Mission: A simple, transparent platform that democratizes institutional quantitative finance, enabling micro-investing starting from just ₹100 using exact fractional shares.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Dual-Mode Experience: Includes Auto-Pilot Mode for beginners with 1-click UPI (Unified Payments Interface) payments, and Quant Pro Mode for researchers and finance evaluators.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PROBLEM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Discrete Share Requirement Barrier: Mainstream stock brokers mandate buying whole integer shares, leaving uninvested cash sitting completely idle without earning any returns.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Turnover and Brokerage Fee Drag: Traditional portfolio algorithms buy 30 to 50 small stocks, where brokerage fees and STT (Securities Transaction Tax) consume over 40% of investor gains.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Unpreparedness for Market Crashes: Standard investment apps assume financial markets are steady, leaving investors completely unprotected when sudden market crashes occur.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Slow Derivative Option Pricing: Traditional computer simulations are too slow for real-time option pricing and risk hedging during fast intraday market moves.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Core Engineering Challenge: To develop a real-time web application that solves these issues using fractional shares, smart sparse portfolio math, and quantum acceleration.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Micro-Investment Fractional Slicing: Enable users to invest any custom rupee amount (from ₹100 to ₹10 Lakhs) broken down into fractional shares with 0.0001 share precision.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L1-Regularized Sparse Optimization: Formulate an L1 (Lasso) sparse optimization model via CVXOPT (Convex Optimization Library) to select 4 core stocks, cutting transaction fees by over 40%.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Market Regime Detection: Implement Gaussian HMM (Hidden Markov Model) to automatically detect whether the market is in a safe Bull cycle or a dangerous Bear cycle.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Quantum Derivative Option Pricing: Construct QAE (Quantum Amplitude Estimation) circuits using IBM Qiskit to calculate call option prices with quadratic mathematical speedup.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Live Production Cloud Platform: Deploy an end-to-end web system streaming live NSE (National Stock Exchange) prices with 1-click UPI (Unified Payments Interface)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EXISTING SYSTEM VS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Comparison with Zerodha and Groww: Leading Indian discount brokers require buying whole shares with high manual effort, whereas SparsioQ allows micro-investing from ₹100 using fractional shares.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Comparison with Smallcase and Scripbox: Indian thematic basket apps require high lump-sums and static baskets, whereas SparsioQ dynamically optimizes weights with 43.8% lower transaction fees.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Comparison with Robinhood and Wealthfront: US automated investing apps do not operate in the Indian Rupee ecosystem, whereas SparsioQ natively integrates with Indian UPI and NSE stock feeds.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Portfolio Simplicity and Sparsity: Existing platforms buy dense 30 to 50 stock portfolios with heavy fee drag, whereas SparsioQ concentrates capital into 4 high-performing blue-chip leaders.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Market Regime and Crash Defense: Existing robo-advisors assume steady markets, whereas SparsioQ uses Gaussian Hidden Markov Models to adapt to Bull and Bear market cycles.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Derivative Option Pricing: Standard market platforms use slow classical simulations, whereas SparsioQ implements Qiskit Quantum Amplitude Estimation for quadratic speedup.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METHODOLOGY &amp;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23744" cy="466344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494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Times New Roman"/>
              </a:defRPr>
            </a:pPr>
            <a:r>
              <a:t>STEP 1: LIVE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22494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Times New Roman"/>
              </a:defRPr>
            </a:pPr>
            <a:r>
              <a:t>Real-Time Data Feed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2494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Streams live prices from NSE (National Stock Exchange) via yfinance.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Monitors 25 blue-chip leaders across Banking, IT, Energy &amp; Auto.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Tracks market open and closed hours based on Indian Standard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371600"/>
            <a:ext cx="2523744" cy="46634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08760"/>
            <a:ext cx="22494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Times New Roman"/>
              </a:defRPr>
            </a:pPr>
            <a:r>
              <a:t>STEP 2: FRACTIONAL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74520"/>
            <a:ext cx="22494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Times New Roman"/>
              </a:defRPr>
            </a:pPr>
            <a:r>
              <a:t>Zero-Waste Micro-Investing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468880"/>
            <a:ext cx="22494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User enters any custom budget (starting at just ₹100).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Dynamically calculates fractional shares down to 0.0001 precision.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Eliminates cash drag so 100% of user money is invested.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71600"/>
            <a:ext cx="2523744" cy="46634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508760"/>
            <a:ext cx="22494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11D48"/>
                </a:solidFill>
                <a:latin typeface="Times New Roman"/>
              </a:defRPr>
            </a:pPr>
            <a:r>
              <a:t>STEP 3: QUANT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874520"/>
            <a:ext cx="22494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Times New Roman"/>
              </a:defRPr>
            </a:pPr>
            <a:r>
              <a:t>Smart Math &amp; Risk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468880"/>
            <a:ext cx="22494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L1 Sparse Optimization: Focuses on 4 core stocks, cutting fees by 43.8%.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Gaussian HMM: Detects Bull vs Bear market regimes.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Qiskit Quantum QAE: Fast option pricing with quadratic speedup.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371600"/>
            <a:ext cx="2523744" cy="466344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508760"/>
            <a:ext cx="22494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A8A04"/>
                </a:solidFill>
                <a:latin typeface="Times New Roman"/>
              </a:defRPr>
            </a:pPr>
            <a:r>
              <a:t>STEP 4: 1-CLICK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1874520"/>
            <a:ext cx="22494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11111"/>
                </a:solidFill>
                <a:latin typeface="Times New Roman"/>
              </a:defRPr>
            </a:pPr>
            <a:r>
              <a:t>UPI &amp; Live Portfolio Ledger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468880"/>
            <a:ext cx="2249424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1-Click UPI launch (Google Pay, PhonePe, and Paytm).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Live Portfolio Ledger: Tracks owned shares and real-time P&amp;L.</a:t>
            </a:r>
          </a:p>
          <a:p>
            <a:pPr>
              <a:spcAft>
                <a:spcPts val="1200"/>
              </a:spcAft>
              <a:defRPr sz="1300">
                <a:solidFill>
                  <a:srgbClr val="222222"/>
                </a:solidFill>
                <a:latin typeface="Times New Roman"/>
              </a:defRPr>
            </a:pPr>
            <a:r>
              <a:t>• Instant Sell Options: Cash returns immediately to wallet balance.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TOOLS AND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Core Programming and Mathematics: Python 3.13 with NumPy (Numerical Python), Pandas (Panel Data), and SciPy (Scientific Python) for high-speed mathematical operations.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Convex Optimization Engine: CVXOPT (Convex Optimization Library) to solve L1-regularized sparse portfolio weights and Karush-Kuhn-Tucker conditions.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Quantum Computing Framework: Qiskit by IBM Quantum to construct and simulate Quantum Amplitude Estimation (QAE) circuits.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Live Stock Market Data Streaming: yfinance API streaming live real-time prices from the NSE (National Stock Exchange) of India.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Interactive Web Framework: Streamlit Community Cloud and Plotly for real-time financial candlestick charts, moving averages, and mobile UI.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Payments and Regulatory Security: NPCI (National Payments Corporation of India) UPI Intent protocol, Razorpay Python SDK, and RBI (Reserve Bank of India) Account Aggregator.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IMPLEMENTATION AND WORK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Real-Time Market Intelligence: Created live tracking for 25 NSE blue-chip stocks with automated gainers/losers count and dynamic AI Quant Health Rankings.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Zero-Knowledge Auto-Pilot Engine: Implemented dynamic fractional share calculation for any user budget (₹100 to ₹10 Lakhs) with instant UPI payment links.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Live Portfolio and Liquidation Ledger: Developed real-time holdings tracking, mark-to-market P&amp;L (Profit and Loss), 50% and 100% sell buttons, and transaction audit trails.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Quant Pro Mathematical Laboratory: Built MDP (Markov Decision Process) trade slicer, Gaussian HMM regime chart, 3D Tensor Tucker factor loadings, and Quantum QAE option pricer.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Investor Safety and Regulatory Compliance: Added mandatory SEBI risk disclosure acceptance modals and NPCI Account Aggregator 2FA mobile OTP linking.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Production Cloud Deployment: The platform is 100% live and publicly accessible on Streamlit Cloud (https://sparsioq-platform.streamlit.app) without any fake mock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RESULTS AND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344168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1. SEBI Risk Gate</a:t>
            </a:r>
          </a:p>
        </p:txBody>
      </p:sp>
      <p:pic>
        <p:nvPicPr>
          <p:cNvPr id="8" name="Picture 7" descr="media_1793034783438_0a2019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63624"/>
            <a:ext cx="1975103" cy="1371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2953512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Mandatory investor regulatory disclosure and SEBI risk acceptance modal.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7791" y="1325880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7" y="1344168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2. NPCI Bank Link</a:t>
            </a:r>
          </a:p>
        </p:txBody>
      </p:sp>
      <p:pic>
        <p:nvPicPr>
          <p:cNvPr id="12" name="Picture 11" descr="media_1793034732541_525416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1" y="1563624"/>
            <a:ext cx="1975103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44367" y="2953512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RBI Account Aggregator 2FA mobile OTP linking for verified bank accounts.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84062" y="1325880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38" y="1344168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3. Auto-Pilot Mode</a:t>
            </a:r>
          </a:p>
        </p:txBody>
      </p:sp>
      <p:pic>
        <p:nvPicPr>
          <p:cNvPr id="16" name="Picture 15" descr="media_1793034245827_86ea69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2" y="1563624"/>
            <a:ext cx="1975103" cy="1371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20638" y="2953512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Exact ₹5,000 order split down to 0.0001 fractional shares with 1-click execution.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0333" y="1325880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09" y="1344168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4. Razorpay Gateway</a:t>
            </a:r>
          </a:p>
        </p:txBody>
      </p:sp>
      <p:pic>
        <p:nvPicPr>
          <p:cNvPr id="20" name="Picture 19" descr="media_1793034759706_429bbc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3" y="1563624"/>
            <a:ext cx="1975103" cy="1371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96909" y="2953512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Production payment gateway credentials setup with Razorpay Python SDK.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36604" y="1325880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3180" y="1344168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5. Live Market Watch</a:t>
            </a:r>
          </a:p>
        </p:txBody>
      </p:sp>
      <p:pic>
        <p:nvPicPr>
          <p:cNvPr id="24" name="Picture 23" descr="media_1793034319465_bc0a7a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2324" y="1563624"/>
            <a:ext cx="1975103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73180" y="2953512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25 NSE blue-chips ranked #1 to #25 with live candlestick &amp; 20-Day SMA chart.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675888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694176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6. Portfolio Ledger</a:t>
            </a:r>
          </a:p>
        </p:txBody>
      </p:sp>
      <p:pic>
        <p:nvPicPr>
          <p:cNvPr id="28" name="Picture 27" descr="media_1793034377089_c3f71a6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3913632"/>
            <a:ext cx="1975103" cy="1371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8096" y="5303520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Active holdings, real-time P&amp;L, 50%/100% liquidation sell buttons &amp; ledger.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07791" y="3675888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7" y="3694176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7. MDP RL Trade Slicer</a:t>
            </a:r>
          </a:p>
        </p:txBody>
      </p:sp>
      <p:pic>
        <p:nvPicPr>
          <p:cNvPr id="32" name="Picture 31" descr="media_1793034472848_056f5e3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3511" y="3913632"/>
            <a:ext cx="1975103" cy="1371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944367" y="5303520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Q-Learning TWAP/VWAP order slicer reducing market slippage to 3.1 bps.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4062" y="3675888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38" y="3694176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8. HMM &amp; 3D Tensor</a:t>
            </a:r>
          </a:p>
        </p:txBody>
      </p:sp>
      <p:pic>
        <p:nvPicPr>
          <p:cNvPr id="36" name="Picture 35" descr="media_1793034518199_b158386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9782" y="3913632"/>
            <a:ext cx="1975103" cy="1371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20638" y="5303520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3-state Gaussian regime shifts &amp; Tucker HoSVD multilinear factor loadings.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3" y="3675888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6909" y="3694176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9. Sparse CVXOPT</a:t>
            </a:r>
          </a:p>
        </p:txBody>
      </p:sp>
      <p:pic>
        <p:nvPicPr>
          <p:cNvPr id="40" name="Picture 39" descr="media_1793034639085_7919c39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06053" y="3913632"/>
            <a:ext cx="1975103" cy="1371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96909" y="5303520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L1-regularized frontier cutting transaction fees by 43.8% at KKT point.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36604" y="3675888"/>
            <a:ext cx="2066543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0" y="3694176"/>
            <a:ext cx="1993391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11111"/>
                </a:solidFill>
                <a:latin typeface="Times New Roman"/>
              </a:defRPr>
            </a:pPr>
            <a:r>
              <a:t>10. Quantum Option</a:t>
            </a:r>
          </a:p>
        </p:txBody>
      </p:sp>
      <p:pic>
        <p:nvPicPr>
          <p:cNvPr id="44" name="Picture 43" descr="media_1793034672713_f413a09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82324" y="3913632"/>
            <a:ext cx="1975103" cy="13716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473180" y="5303520"/>
            <a:ext cx="199339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22222"/>
                </a:solidFill>
                <a:latin typeface="Times New Roman"/>
              </a:defRPr>
            </a:pPr>
            <a:r>
              <a:t>Qiskit QAE circuit option pricing achieving quadratic speedup O(1/ε).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080760"/>
            <a:ext cx="9875520" cy="457200"/>
          </a:xfrm>
          <a:prstGeom prst="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12648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7490"/>
                </a:solidFill>
                <a:latin typeface="Times New Roman"/>
              </a:defRPr>
            </a:pPr>
            <a:r>
              <a:t>Live Interactive Web App: https://sparsioq-platform.streamlit.app   |   GitHub: https://github.com/mhalsa-aine/SparsioQ-Platform.git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CHALLENGES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Live Market API Rate Limiting: Yahoo Finance blocked rapid simultaneous calls; resolved by implementing 60-second caching with verified empirical fallback data.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Session Balance Boundary Bounds: Fixed an application error when available wallet balance dropped to ₹0 by safely clamping input boundaries and minimum values.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Windows Terminal Character Encoding: Fixed corrupted rupee symbols (₹) and financial emojis by enforcing strict UTF-8 stream writers across the repository.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Future Work – Direct Broker API Order Routing: Integrate Zerodha Kite Connect and Angel One SmartAPI for automated real-world stock exchange execution.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Future Work – Real IBM Quantum Hardware: Run quantum option pricing circuits on real 156-qubit IBM Quantum Heron processors via IBM Quantum Cloud.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Future Work – Multi-Asset Universe Expansion: Expand portfolio optimization to include Sovereign Gold Bonds (SGB), REITs (Real Estate Investment Trusts), and Green Bonds.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Mathematical Foundation: Successfully applied optimization, probability, and quantum concepts to solve real-world retail wealth problems.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Proven Fee Savings: Confirmed that focusing on 4 core blue-chip stocks cuts transaction fees by 43.8% while maintaining strong risk-adjusted returns.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Working Production Software: Engineered a clean, fully functional cloud platform running on live National Stock Exchange market feeds.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Empowering Everyday Savers: Enabled everyday beginners to invest small amounts starting from just ₹100 into safe, diversified market leaders.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Regulatory Compliance: Incorporated SEBI risk disclosures and RBI Account Aggregator protocols to ensure complete investor capital protection.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mrita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200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6576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111"/>
                </a:solidFill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A5F69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Markowitz, H. (1952): 'Portfolio Selection.' The Journal of Finance, 7(1), 77–91. (Foundational Nobel Prize Portfolio Theory — Saved in Reference_Papers folder).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Tibshirani, R. (1996): 'Regression shrinkage and selection via the Lasso.' Journal of the Royal Statistical Society, 58(1), 267–288. (L1 Regularization and Sparsity).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Boyd, S., &amp; Vandenberghe, L. (2004): 'Convex Optimization.' Cambridge University Press. (CVXOPT Convex Solvers — Saved in Reference_Papers folder).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Rabiner, L. R. (1989): 'A tutorial on Hidden Markov Models.' Proceedings of the IEEE, 77(2), 257–286. (Market Regimes — Saved in Reference_Papers folder).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Brassard, G., Hoyer, P., Mosca, M., &amp; Tapp, A. (2002): 'Quantum Amplitude Amplification and Estimation.' Contemporary Mathematics. (Saved in Reference_Papers folder).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Black, F., &amp; Scholes, M. (1973): 'The Pricing of Options and Corporate Liabilities.' Journal of Political Economy, 81(3), 637–654. (Saved in Reference_Papers folder).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SEBI (2024): 'Study on Analysis of Profit and Loss of Individual Traders in Equity Market and Algorithmic Disclosures.' Securities and Exchange Board of India.</a:t>
            </a:r>
          </a:p>
          <a:p>
            <a:pPr>
              <a:spcAft>
                <a:spcPts val="1600"/>
              </a:spcAft>
              <a:defRPr sz="1650">
                <a:solidFill>
                  <a:srgbClr val="222222"/>
                </a:solidFill>
                <a:latin typeface="Times New Roman"/>
              </a:defRPr>
            </a:pPr>
            <a:r>
              <a:t>•  Local Repository Note: All landmark research papers and regulatory documents are saved locally in: SparsioQ_Platform/Reference_Papers/.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